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0"/>
  </p:notesMasterIdLst>
  <p:handoutMasterIdLst>
    <p:handoutMasterId r:id="rId61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6" r:id="rId19"/>
    <p:sldId id="428" r:id="rId20"/>
    <p:sldId id="429" r:id="rId21"/>
    <p:sldId id="431" r:id="rId22"/>
    <p:sldId id="430" r:id="rId23"/>
    <p:sldId id="432" r:id="rId24"/>
    <p:sldId id="527" r:id="rId25"/>
    <p:sldId id="526" r:id="rId26"/>
    <p:sldId id="478" r:id="rId27"/>
    <p:sldId id="434" r:id="rId28"/>
    <p:sldId id="471" r:id="rId29"/>
    <p:sldId id="502" r:id="rId30"/>
    <p:sldId id="435" r:id="rId31"/>
    <p:sldId id="436" r:id="rId32"/>
    <p:sldId id="437" r:id="rId33"/>
    <p:sldId id="516" r:id="rId34"/>
    <p:sldId id="503" r:id="rId35"/>
    <p:sldId id="490" r:id="rId36"/>
    <p:sldId id="491" r:id="rId37"/>
    <p:sldId id="492" r:id="rId38"/>
    <p:sldId id="521" r:id="rId39"/>
    <p:sldId id="522" r:id="rId40"/>
    <p:sldId id="523" r:id="rId41"/>
    <p:sldId id="524" r:id="rId42"/>
    <p:sldId id="525" r:id="rId43"/>
    <p:sldId id="479" r:id="rId44"/>
    <p:sldId id="473" r:id="rId45"/>
    <p:sldId id="476" r:id="rId46"/>
    <p:sldId id="445" r:id="rId47"/>
    <p:sldId id="446" r:id="rId48"/>
    <p:sldId id="447" r:id="rId49"/>
    <p:sldId id="448" r:id="rId50"/>
    <p:sldId id="518" r:id="rId51"/>
    <p:sldId id="520" r:id="rId52"/>
    <p:sldId id="451" r:id="rId53"/>
    <p:sldId id="511" r:id="rId54"/>
    <p:sldId id="512" r:id="rId55"/>
    <p:sldId id="513" r:id="rId56"/>
    <p:sldId id="458" r:id="rId57"/>
    <p:sldId id="460" r:id="rId58"/>
    <p:sldId id="467" r:id="rId5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>
      <p:cViewPr>
        <p:scale>
          <a:sx n="59" d="100"/>
          <a:sy n="59" d="100"/>
        </p:scale>
        <p:origin x="1448" y="-7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F5CE-3B2D-0D67-1D47-CFC164EF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68D7219-E9A7-A1E3-813B-DBE0351806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4E607160-C86E-2CD5-2838-7E37A0259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344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9B81-2F31-095B-85CA-F4239CD1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8E8F698-5B89-3E84-859E-5EC0F7EE7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09F8FBFB-BAFE-0AB9-20DB-5808D4272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58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  <a:p>
            <a:r>
              <a:rPr lang="en-US" altLang="en-US" dirty="0"/>
              <a:t>Examples of IPC Systems</a:t>
            </a:r>
          </a:p>
          <a:p>
            <a:r>
              <a:rPr lang="en-US" altLang="en-US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using shared memory and message passing.</a:t>
            </a:r>
          </a:p>
          <a:p>
            <a:r>
              <a:rPr lang="en-US" altLang="en-US" dirty="0"/>
              <a:t>Design programs that uses pipes and POSIX shared memory to perform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communication.</a:t>
            </a:r>
          </a:p>
          <a:p>
            <a:r>
              <a:rPr lang="en-US" altLang="en-US" dirty="0"/>
              <a:t>Describe client-server communication using sockets and remote procedure calls.</a:t>
            </a:r>
          </a:p>
          <a:p>
            <a:r>
              <a:rPr lang="en-US" altLang="en-US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863725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59077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9721-9A39-47AF-E3ED-363336E3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18C78C3-B7D4-4985-A7EE-40AE883B02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3C0C2-ED22-FCE3-9A14-281882E66C91}"/>
              </a:ext>
            </a:extLst>
          </p:cNvPr>
          <p:cNvSpPr txBox="1"/>
          <p:nvPr/>
        </p:nvSpPr>
        <p:spPr>
          <a:xfrm>
            <a:off x="457198" y="897631"/>
            <a:ext cx="882831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#include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sys/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types.h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#include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stdio.h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#include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unistd.h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#define SIZE 5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nums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[SIZE] =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0,1,2,3,4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 main()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pid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t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pid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pid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fork();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(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pid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== 0)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 (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0;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SIZE;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nums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 *= -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printf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("CHILD: %d ",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nums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  </a:t>
            </a:r>
            <a:r>
              <a:rPr lang="en-US" sz="1600" b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/* LINE X */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else if (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pid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&gt; 0) </a:t>
            </a: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wait(NULL);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 (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0;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SIZE; 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printf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("PARENT: %d ",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nums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  </a:t>
            </a:r>
            <a:r>
              <a:rPr lang="en-US" sz="1600" b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/* LINE Y */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31F2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return 0;}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171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6ED8B-2EE4-8694-081D-5C4A0B1F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8BDF8AC5-805C-7230-8B73-12D929CC2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E7C742-085F-206F-01BC-2FCB99E28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808943"/>
            <a:ext cx="4626429" cy="582204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stdio.h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unistd.h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#define MAX_DEPTH 2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void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create_child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(int depth) 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if (depth &gt;= MAX_DEPTH) 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pid_t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fork();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if (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0) 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Error handling if fork fails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perror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("fork");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 else if (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== 0) 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Child process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("Child Process (PID: %d, Depth: %d)\n",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getpid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 depth);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create_child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(depth + 1);  // Recursively create child processes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 else 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Parent process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("Parent Process (PID: %d)\n",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getpid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1FCA4-59E9-FEE8-4012-3B3BF02B6DA1}"/>
              </a:ext>
            </a:extLst>
          </p:cNvPr>
          <p:cNvSpPr txBox="1"/>
          <p:nvPr/>
        </p:nvSpPr>
        <p:spPr>
          <a:xfrm>
            <a:off x="5043257" y="917803"/>
            <a:ext cx="3875314" cy="2048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 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("Parent Process (PID: %d)\n",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getpid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create_child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(1);  // Start creating child processes from depth 1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900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4478752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great details in Chapters 6 &amp; 7.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latin typeface="Courier New" panose="02070309020205020404" pitchFamily="49" charset="0"/>
              </a:rPr>
              <a:t>BUFFER_SIZE-1</a:t>
            </a:r>
            <a:r>
              <a:rPr lang="en-US" altLang="en-US"/>
              <a:t>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next_produced;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buffer[in] = next_produced;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/>
          </a:p>
          <a:p>
            <a:pPr>
              <a:buFont typeface="Monotype Sorts" pitchFamily="-84" charset="2"/>
              <a:buNone/>
            </a:pPr>
            <a:r>
              <a:rPr lang="en-US" altLang="en-US" sz="1400"/>
              <a:t>	</a:t>
            </a:r>
          </a:p>
          <a:p>
            <a:pPr marL="7167563" lvl="4">
              <a:buFontTx/>
              <a:buNone/>
            </a:pPr>
            <a:endParaRPr lang="en-US" alt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next_consumed;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next_consumed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while (true) {</a:t>
            </a:r>
            <a:br>
              <a:rPr lang="en-US" altLang="en-US" sz="1700" dirty="0">
                <a:latin typeface="Courier New" panose="02070309020205020404" pitchFamily="49" charset="0"/>
              </a:rPr>
            </a:br>
            <a:r>
              <a:rPr lang="en-US" altLang="en-US" sz="1700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buffer[in] = </a:t>
            </a:r>
            <a:r>
              <a:rPr lang="en-US" altLang="en-US" sz="17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700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731" y="1262063"/>
            <a:ext cx="6931219" cy="48609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</a:p>
          <a:p>
            <a:r>
              <a:rPr lang="en-US" altLang="en-US"/>
              <a:t>Issues:</a:t>
            </a:r>
          </a:p>
          <a:p>
            <a:pPr lvl="1"/>
            <a:r>
              <a:rPr lang="en-US" altLang="en-US"/>
              <a:t>Is communication unidirectional or bidirectional?</a:t>
            </a:r>
          </a:p>
          <a:p>
            <a:pPr lvl="1"/>
            <a:r>
              <a:rPr lang="en-US" altLang="en-US"/>
              <a:t>In the case of two-way communication, is it half or full-duplex?</a:t>
            </a:r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</a:p>
          <a:p>
            <a:pPr lvl="1"/>
            <a:r>
              <a:rPr lang="en-US" altLang="en-US"/>
              <a:t>Can the pipes be used over a network?</a:t>
            </a:r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altLang="en-US" dirty="0"/>
              <a:t>Sockets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pPr lvl="1"/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pPr lvl="1"/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pPr lvl="1"/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pPr lvl="1"/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pPr lvl="1"/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</a:rPr>
              <a:t>loopback</a:t>
            </a:r>
            <a:r>
              <a:rPr lang="en-US" altLang="en-US" dirty="0"/>
              <a:t>) to refer to system on which process is running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Remote Procedure Calls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17689</TotalTime>
  <Words>3453</Words>
  <Application>Microsoft Office PowerPoint</Application>
  <PresentationFormat>On-screen Show (4:3)</PresentationFormat>
  <Paragraphs>437</Paragraphs>
  <Slides>58</Slides>
  <Notes>55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ＭＳ Ｐゴシック</vt:lpstr>
      <vt:lpstr>Arial</vt:lpstr>
      <vt:lpstr>Calibri</vt:lpstr>
      <vt:lpstr>Courier</vt:lpstr>
      <vt:lpstr>Courier New</vt:lpstr>
      <vt:lpstr>Helvetica</vt:lpstr>
      <vt:lpstr>Monaco</vt:lpstr>
      <vt:lpstr>Monotype Sorts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 Program Forking Separate Process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Pipes</vt:lpstr>
      <vt:lpstr>Ordinary Pipes</vt:lpstr>
      <vt:lpstr>Named Pipes</vt:lpstr>
      <vt:lpstr>Communications in Client-Server Systems</vt:lpstr>
      <vt:lpstr>Socket Communication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Ms.Nasreen Akhtar</cp:lastModifiedBy>
  <cp:revision>348</cp:revision>
  <cp:lastPrinted>2013-10-02T18:16:40Z</cp:lastPrinted>
  <dcterms:created xsi:type="dcterms:W3CDTF">2011-01-13T23:43:38Z</dcterms:created>
  <dcterms:modified xsi:type="dcterms:W3CDTF">2024-02-19T11:11:37Z</dcterms:modified>
</cp:coreProperties>
</file>