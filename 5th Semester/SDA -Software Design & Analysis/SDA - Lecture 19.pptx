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588" r:id="rId2"/>
    <p:sldId id="370" r:id="rId3"/>
    <p:sldId id="586" r:id="rId4"/>
    <p:sldId id="258" r:id="rId5"/>
    <p:sldId id="58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B2C25-3B8B-4F87-AE15-174D38465B24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A77A-375A-454D-A21D-4AF56A25C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66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2DDD98DA-F305-8B70-FACB-758AFF38A6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0B4DB5A-D37B-40CB-851D-5783FD1E109C}" type="slidenum">
              <a:rPr lang="en-US" altLang="en-US" sz="1200" smtClean="0">
                <a:cs typeface="Arial" panose="020B0604020202020204" pitchFamily="34" charset="0"/>
              </a:rPr>
              <a:pPr/>
              <a:t>2</a:t>
            </a:fld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1A9D11A-9AE7-F2D1-0203-202A46A007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A8B29D8-6D72-9023-445D-DFF8DD1F6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0BC541A-D574-81F3-5930-7F0166800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CB9B52-245B-4406-AD41-5FCB1A7F336B}" type="slidenum">
              <a:rPr lang="en-US" altLang="en-US" sz="1200" smtClean="0">
                <a:cs typeface="Arial" panose="020B0604020202020204" pitchFamily="34" charset="0"/>
              </a:rPr>
              <a:pPr/>
              <a:t>3</a:t>
            </a:fld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D1241DB-2AAF-0765-3651-DF0C0FABD4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9E25037-21BA-4E75-DAA9-F27D9B6A7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033E2E1-804D-1507-CEDF-BDAEB4105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81A6BA-ABE8-429E-8E03-AE26FAC29A3A}" type="slidenum">
              <a:rPr lang="en-US" altLang="en-US" sz="1200" smtClean="0">
                <a:cs typeface="Arial" panose="020B0604020202020204" pitchFamily="34" charset="0"/>
              </a:rPr>
              <a:pPr/>
              <a:t>5</a:t>
            </a:fld>
            <a:endParaRPr lang="en-US" altLang="en-US" sz="1200"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9843323-0054-0156-03C4-B60F81D4A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5704B32-C4EE-F072-19F4-C825162D6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">
            <a:extLst>
              <a:ext uri="{FF2B5EF4-FFF2-40B4-BE49-F238E27FC236}">
                <a16:creationId xmlns:a16="http://schemas.microsoft.com/office/drawing/2014/main" id="{72F17CC6-04FB-C3BF-ACE7-5EC7EEF0D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1989138"/>
            <a:ext cx="7920038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24059-2CDE-A105-8406-000260199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8" y="82550"/>
            <a:ext cx="276066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3" y="908719"/>
            <a:ext cx="7921129" cy="1030907"/>
          </a:xfrm>
        </p:spPr>
        <p:txBody>
          <a:bodyPr/>
          <a:lstStyle>
            <a:lvl1pPr>
              <a:defRPr sz="4400">
                <a:solidFill>
                  <a:srgbClr val="00B0F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AU" altLang="zh-CN" noProof="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060847"/>
            <a:ext cx="7924800" cy="4371703"/>
          </a:xfrm>
        </p:spPr>
        <p:txBody>
          <a:bodyPr tIns="45720" bIns="45720"/>
          <a:lstStyle>
            <a:lvl1pPr marL="0" indent="0">
              <a:buFont typeface="Wingdings" charset="0"/>
              <a:buNone/>
              <a:defRPr sz="3200"/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AU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839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5427" y="324357"/>
            <a:ext cx="8064271" cy="880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1194" y="1585511"/>
            <a:ext cx="5296534" cy="277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5">
            <a:extLst>
              <a:ext uri="{FF2B5EF4-FFF2-40B4-BE49-F238E27FC236}">
                <a16:creationId xmlns:a16="http://schemas.microsoft.com/office/drawing/2014/main" id="{302DD4BD-0291-C53D-AF86-3B78B941B9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12800" y="908050"/>
            <a:ext cx="7504113" cy="1208088"/>
          </a:xfrm>
        </p:spPr>
        <p:txBody>
          <a:bodyPr/>
          <a:lstStyle/>
          <a:p>
            <a:pPr algn="ctr" eaLnBrk="1" hangingPunct="1"/>
            <a:r>
              <a:rPr lang="en-US" altLang="en-US" sz="3200"/>
              <a:t>Software Design and Analysis</a:t>
            </a:r>
          </a:p>
        </p:txBody>
      </p:sp>
      <p:sp>
        <p:nvSpPr>
          <p:cNvPr id="6147" name="Subtitle 6">
            <a:extLst>
              <a:ext uri="{FF2B5EF4-FFF2-40B4-BE49-F238E27FC236}">
                <a16:creationId xmlns:a16="http://schemas.microsoft.com/office/drawing/2014/main" id="{257ADEC7-EE65-0BB0-9966-D7E20297D2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12800" y="2400300"/>
            <a:ext cx="7924800" cy="1006475"/>
          </a:xfrm>
        </p:spPr>
        <p:txBody>
          <a:bodyPr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AU" altLang="en-US" sz="2800" b="1"/>
              <a:t>Object Oriented Design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AU" altLang="en-US" sz="2800" b="1"/>
              <a:t>GRASP Patterns</a:t>
            </a:r>
          </a:p>
        </p:txBody>
      </p:sp>
      <p:sp>
        <p:nvSpPr>
          <p:cNvPr id="6148" name="TextBox 1">
            <a:extLst>
              <a:ext uri="{FF2B5EF4-FFF2-40B4-BE49-F238E27FC236}">
                <a16:creationId xmlns:a16="http://schemas.microsoft.com/office/drawing/2014/main" id="{A68FD444-4E4E-282E-3F26-D735A2A76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33800"/>
            <a:ext cx="4752975" cy="136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endParaRPr lang="en-AU" altLang="en-US" sz="1800" dirty="0"/>
          </a:p>
          <a:p>
            <a:pPr eaLnBrk="1" hangingPunct="1">
              <a:buFontTx/>
              <a:buNone/>
            </a:pPr>
            <a:endParaRPr lang="en-AU" altLang="en-US" sz="1800" dirty="0"/>
          </a:p>
          <a:p>
            <a:pPr eaLnBrk="1" hangingPunct="1">
              <a:buFontTx/>
              <a:buNone/>
            </a:pPr>
            <a:r>
              <a:rPr lang="en-AU" altLang="en-US" sz="1800" dirty="0"/>
              <a:t>Department of Software Engineering, </a:t>
            </a:r>
          </a:p>
          <a:p>
            <a:pPr eaLnBrk="1" hangingPunct="1">
              <a:buFontTx/>
              <a:buNone/>
            </a:pPr>
            <a:r>
              <a:rPr lang="en-AU" altLang="en-US" sz="1800" dirty="0"/>
              <a:t>FAST-NUCES, CFD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AE5B5E3-A238-93F2-0CA2-0B6274866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Lecture Outline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BEBE1F7-4D9D-48F7-76E0-9656F20B10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05800" cy="5410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OOD Fundamentals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GRASP Patterns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Creator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Information Expert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Coupling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Cohesion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Pure Fabrication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Polymorphism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marL="457200" lvl="1" indent="0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3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30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30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3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3000" dirty="0"/>
          </a:p>
        </p:txBody>
      </p:sp>
      <p:sp>
        <p:nvSpPr>
          <p:cNvPr id="7172" name="Slide Number Placeholder 1">
            <a:extLst>
              <a:ext uri="{FF2B5EF4-FFF2-40B4-BE49-F238E27FC236}">
                <a16:creationId xmlns:a16="http://schemas.microsoft.com/office/drawing/2014/main" id="{9C1947C4-6A40-AE16-6FFC-C2FFFFCD40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534400" y="6453188"/>
            <a:ext cx="550863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buFontTx/>
              <a:buNone/>
              <a:defRPr/>
            </a:pPr>
            <a:fld id="{723B0BCA-0101-4256-B47B-F1DB01972B1C}" type="slidenum">
              <a:rPr lang="en-AU" smtClean="0"/>
              <a:pPr>
                <a:buFontTx/>
                <a:buNone/>
                <a:defRPr/>
              </a:pPr>
              <a:t>2</a:t>
            </a:fld>
            <a:endParaRPr lang="en-AU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0362134-A076-1DF7-2109-ABAF3BAE3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427" y="324357"/>
            <a:ext cx="8064271" cy="430887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                             GRASP Patterns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C40F399-F1CF-4221-033F-3752101CDE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427" y="1042988"/>
            <a:ext cx="8305800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tr-TR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creates?</a:t>
            </a:r>
          </a:p>
          <a:p>
            <a:pPr lvl="1">
              <a:lnSpc>
                <a:spcPct val="90000"/>
              </a:lnSpc>
              <a:defRPr/>
            </a:pPr>
            <a:endParaRPr lang="tr-T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tr-TR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Expert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Who, in the general case, is responsible? </a:t>
            </a:r>
          </a:p>
          <a:p>
            <a:pPr lvl="1">
              <a:lnSpc>
                <a:spcPct val="90000"/>
              </a:lnSpc>
              <a:defRPr/>
            </a:pPr>
            <a:endParaRPr lang="tr-T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tr-TR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Coupling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low dependency and increased reuse</a:t>
            </a:r>
          </a:p>
          <a:p>
            <a:pPr lvl="1">
              <a:lnSpc>
                <a:spcPct val="90000"/>
              </a:lnSpc>
              <a:defRPr/>
            </a:pPr>
            <a:endParaRPr lang="tr-T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tr-TR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Cohesion</a:t>
            </a:r>
            <a:endParaRPr lang="en-US" alt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keep complexity manageable? 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Who, when behavior varies by type? 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en-US" sz="2400" dirty="0">
                <a:solidFill>
                  <a:srgbClr val="0070C0"/>
                </a:solidFill>
              </a:rPr>
              <a:t>Pure Fabrication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Who, when you are desperate, and do not want to violate High Cohesion and Low Coupling? 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30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3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3000" dirty="0"/>
          </a:p>
        </p:txBody>
      </p:sp>
      <p:sp>
        <p:nvSpPr>
          <p:cNvPr id="13316" name="Slide Number Placeholder 1">
            <a:extLst>
              <a:ext uri="{FF2B5EF4-FFF2-40B4-BE49-F238E27FC236}">
                <a16:creationId xmlns:a16="http://schemas.microsoft.com/office/drawing/2014/main" id="{D11CDA85-5B7B-6D3C-CECB-5980117B39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534400" y="6453188"/>
            <a:ext cx="550863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buFontTx/>
              <a:buNone/>
              <a:defRPr/>
            </a:pPr>
            <a:fld id="{A0DE3370-18EF-4209-AF0F-D2C3BD10F639}" type="slidenum">
              <a:rPr lang="en-AU" smtClean="0"/>
              <a:pPr>
                <a:buFontTx/>
                <a:buNone/>
                <a:defRPr/>
              </a:pPr>
              <a:t>3</a:t>
            </a:fld>
            <a:endParaRPr lang="en-AU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4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4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18435" grpId="1" uiExpand="1" build="p"/>
      <p:bldP spid="18435" grpId="2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1245" y="478281"/>
            <a:ext cx="4458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Responsibility-</a:t>
            </a:r>
            <a:r>
              <a:rPr dirty="0"/>
              <a:t>Driven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14958"/>
            <a:ext cx="8884285" cy="5064848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r>
              <a:rPr sz="24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include</a:t>
            </a:r>
            <a:r>
              <a:rPr sz="24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two</a:t>
            </a:r>
            <a:r>
              <a:rPr sz="240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types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:</a:t>
            </a:r>
            <a:r>
              <a:rPr sz="2400" b="1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3333CC"/>
                </a:solidFill>
                <a:latin typeface="Times New Roman"/>
                <a:cs typeface="Times New Roman"/>
              </a:rPr>
              <a:t>Knowing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and </a:t>
            </a:r>
            <a:r>
              <a:rPr sz="2400" b="1" i="1" spc="-10" dirty="0">
                <a:solidFill>
                  <a:srgbClr val="3333CC"/>
                </a:solidFill>
                <a:latin typeface="Times New Roman"/>
                <a:cs typeface="Times New Roman"/>
              </a:rPr>
              <a:t>Doing</a:t>
            </a:r>
            <a:endParaRPr sz="2400" dirty="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1340"/>
              </a:spcBef>
            </a:pP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Doing</a:t>
            </a:r>
            <a:r>
              <a:rPr sz="20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sz="20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r>
              <a:rPr sz="20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include:</a:t>
            </a:r>
            <a:endParaRPr sz="2000" dirty="0">
              <a:latin typeface="Times New Roman"/>
              <a:cs typeface="Times New Roman"/>
            </a:endParaRPr>
          </a:p>
          <a:p>
            <a:pPr marL="1007744" indent="-81280">
              <a:lnSpc>
                <a:spcPct val="100000"/>
              </a:lnSpc>
              <a:spcBef>
                <a:spcPts val="1210"/>
              </a:spcBef>
              <a:buSzPct val="94444"/>
              <a:buChar char="•"/>
              <a:tabLst>
                <a:tab pos="1008380" algn="l"/>
              </a:tabLst>
            </a:pPr>
            <a:r>
              <a:rPr sz="1800" dirty="0">
                <a:latin typeface="Times New Roman"/>
                <a:cs typeface="Times New Roman"/>
              </a:rPr>
              <a:t>Doing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something itself,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such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 doing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calculation</a:t>
            </a:r>
            <a:endParaRPr sz="1800" dirty="0">
              <a:latin typeface="Times New Roman"/>
              <a:cs typeface="Times New Roman"/>
            </a:endParaRPr>
          </a:p>
          <a:p>
            <a:pPr marL="1007744" indent="-81280">
              <a:lnSpc>
                <a:spcPct val="100000"/>
              </a:lnSpc>
              <a:spcBef>
                <a:spcPts val="1080"/>
              </a:spcBef>
              <a:buSzPct val="94444"/>
              <a:buChar char="•"/>
              <a:tabLst>
                <a:tab pos="1008380" algn="l"/>
              </a:tabLst>
            </a:pPr>
            <a:r>
              <a:rPr sz="1800" dirty="0">
                <a:latin typeface="Times New Roman"/>
                <a:cs typeface="Times New Roman"/>
              </a:rPr>
              <a:t>Initiating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objects</a:t>
            </a:r>
            <a:endParaRPr sz="1800" dirty="0">
              <a:latin typeface="Times New Roman"/>
              <a:cs typeface="Times New Roman"/>
            </a:endParaRPr>
          </a:p>
          <a:p>
            <a:pPr marL="1007744" indent="-81280">
              <a:lnSpc>
                <a:spcPct val="100000"/>
              </a:lnSpc>
              <a:spcBef>
                <a:spcPts val="1080"/>
              </a:spcBef>
              <a:buSzPct val="94444"/>
              <a:buChar char="•"/>
              <a:tabLst>
                <a:tab pos="1008380" algn="l"/>
              </a:tabLst>
            </a:pPr>
            <a:r>
              <a:rPr sz="1800" dirty="0">
                <a:latin typeface="Times New Roman"/>
                <a:cs typeface="Times New Roman"/>
              </a:rPr>
              <a:t>Controlling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coordinating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activities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10" dirty="0">
                <a:latin typeface="Times New Roman"/>
                <a:cs typeface="Times New Roman"/>
              </a:rPr>
              <a:t> objects</a:t>
            </a:r>
            <a:endParaRPr sz="1800" dirty="0">
              <a:latin typeface="Times New Roman"/>
              <a:cs typeface="Times New Roman"/>
            </a:endParaRPr>
          </a:p>
          <a:p>
            <a:pPr marL="774700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Knowing</a:t>
            </a:r>
            <a:r>
              <a:rPr sz="20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r>
              <a:rPr sz="20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sz="20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object</a:t>
            </a:r>
            <a:r>
              <a:rPr sz="20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include: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083945" lvl="1" indent="-81280">
              <a:lnSpc>
                <a:spcPct val="100000"/>
              </a:lnSpc>
              <a:buSzPct val="94444"/>
              <a:buChar char="•"/>
              <a:tabLst>
                <a:tab pos="1084580" algn="l"/>
              </a:tabLst>
            </a:pPr>
            <a:r>
              <a:rPr sz="1800" dirty="0">
                <a:latin typeface="Times New Roman"/>
                <a:cs typeface="Times New Roman"/>
              </a:rPr>
              <a:t>Knowing about private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encapsulated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 dirty="0">
              <a:latin typeface="Times New Roman"/>
              <a:cs typeface="Times New Roman"/>
            </a:endParaRPr>
          </a:p>
          <a:p>
            <a:pPr marL="1083945" lvl="1" indent="-81280">
              <a:lnSpc>
                <a:spcPct val="100000"/>
              </a:lnSpc>
              <a:spcBef>
                <a:spcPts val="1080"/>
              </a:spcBef>
              <a:buSzPct val="94444"/>
              <a:buChar char="•"/>
              <a:tabLst>
                <a:tab pos="1084580" algn="l"/>
              </a:tabLst>
            </a:pPr>
            <a:r>
              <a:rPr sz="1800" dirty="0">
                <a:latin typeface="Times New Roman"/>
                <a:cs typeface="Times New Roman"/>
              </a:rPr>
              <a:t>Knowing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about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related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objects</a:t>
            </a:r>
            <a:endParaRPr sz="1800" dirty="0">
              <a:latin typeface="Times New Roman"/>
              <a:cs typeface="Times New Roman"/>
            </a:endParaRPr>
          </a:p>
          <a:p>
            <a:pPr marL="1083945" lvl="1" indent="-81280">
              <a:lnSpc>
                <a:spcPct val="100000"/>
              </a:lnSpc>
              <a:spcBef>
                <a:spcPts val="1080"/>
              </a:spcBef>
              <a:buSzPct val="94444"/>
              <a:buChar char="•"/>
              <a:tabLst>
                <a:tab pos="1084580" algn="l"/>
              </a:tabLst>
            </a:pPr>
            <a:r>
              <a:rPr sz="1800" dirty="0">
                <a:latin typeface="Times New Roman"/>
                <a:cs typeface="Times New Roman"/>
              </a:rPr>
              <a:t>Knowing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about things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 can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derive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calculate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  <a:spcBef>
                <a:spcPts val="1660"/>
              </a:spcBef>
            </a:pP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r>
              <a:rPr sz="20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abstraction</a:t>
            </a:r>
            <a:r>
              <a:rPr sz="20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–</a:t>
            </a:r>
            <a:r>
              <a:rPr sz="20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methods</a:t>
            </a:r>
            <a:r>
              <a:rPr sz="20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fulfill</a:t>
            </a:r>
            <a:r>
              <a:rPr sz="20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7F2A2C0-AE72-6545-4ED6-5AD8D26BF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OOD Fundamentals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416DCC2-3E44-0053-353B-1E3E39F724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47800"/>
            <a:ext cx="8305800" cy="53387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en-US" sz="2400" dirty="0"/>
              <a:t>Patterns: A collection of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general principles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idiomatic solutions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altLang="en-US" sz="2400" dirty="0"/>
              <a:t>to guide us in the creation of software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altLang="en-US" sz="2400" dirty="0"/>
          </a:p>
          <a:p>
            <a:pPr>
              <a:lnSpc>
                <a:spcPct val="90000"/>
              </a:lnSpc>
              <a:defRPr/>
            </a:pPr>
            <a:r>
              <a:rPr lang="en-US" altLang="en-US" sz="2400" dirty="0"/>
              <a:t>A pattern: A named and well-known problem/solution pair that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Can be applied in new contexts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000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With advice on how to apply it in novel situations </a:t>
            </a:r>
          </a:p>
          <a:p>
            <a:pPr lvl="1">
              <a:lnSpc>
                <a:spcPct val="90000"/>
              </a:lnSpc>
              <a:defRPr/>
            </a:pPr>
            <a:endParaRPr lang="en-US" altLang="en-US" sz="2000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/>
              <a:t>With a discussion of its trade-offs, implementations, variations, </a:t>
            </a:r>
            <a:endParaRPr lang="en-US" altLang="en-US" sz="2400" dirty="0"/>
          </a:p>
          <a:p>
            <a:pPr lvl="1">
              <a:defRPr/>
            </a:pPr>
            <a:endParaRPr lang="en-US" altLang="en-US" sz="1800" dirty="0">
              <a:cs typeface="Arial" panose="020B0604020202020204" pitchFamily="34" charset="0"/>
            </a:endParaRPr>
          </a:p>
          <a:p>
            <a:pPr lvl="1">
              <a:defRPr/>
            </a:pPr>
            <a:endParaRPr lang="en-US" altLang="en-US" sz="1800" dirty="0"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en-US" sz="3000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3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en-US" sz="3000" dirty="0"/>
          </a:p>
        </p:txBody>
      </p:sp>
      <p:sp>
        <p:nvSpPr>
          <p:cNvPr id="11268" name="Slide Number Placeholder 1">
            <a:extLst>
              <a:ext uri="{FF2B5EF4-FFF2-40B4-BE49-F238E27FC236}">
                <a16:creationId xmlns:a16="http://schemas.microsoft.com/office/drawing/2014/main" id="{BE68532B-DF13-AAA3-C0F4-F206D83F9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8534400" y="6453188"/>
            <a:ext cx="550863" cy="33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AU"/>
            </a:defPPr>
            <a:lvl1pPr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1200"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buFontTx/>
              <a:buNone/>
              <a:defRPr/>
            </a:pPr>
            <a:fld id="{723B0BCA-0101-4256-B47B-F1DB01972B1C}" type="slidenum">
              <a:rPr lang="en-AU" smtClean="0"/>
              <a:pPr>
                <a:buFontTx/>
                <a:buNone/>
                <a:defRPr/>
              </a:pPr>
              <a:t>5</a:t>
            </a:fld>
            <a:endParaRPr lang="en-AU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  <p:bldP spid="18435" grpId="1" uiExpand="1" build="p"/>
      <p:bldP spid="18435" grpId="2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6613" y="402081"/>
            <a:ext cx="5507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RDD</a:t>
            </a:r>
            <a:r>
              <a:rPr spc="-4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Monopoly</a:t>
            </a:r>
            <a:r>
              <a:rPr spc="-75" dirty="0"/>
              <a:t> </a:t>
            </a:r>
            <a:r>
              <a:rPr spc="-20" dirty="0"/>
              <a:t>Game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0" y="1981200"/>
            <a:ext cx="1752600" cy="1066800"/>
          </a:xfrm>
          <a:custGeom>
            <a:avLst/>
            <a:gdLst/>
            <a:ahLst/>
            <a:cxnLst/>
            <a:rect l="l" t="t" r="r" b="b"/>
            <a:pathLst>
              <a:path w="1752600" h="1066800">
                <a:moveTo>
                  <a:pt x="0" y="1066800"/>
                </a:moveTo>
                <a:lnTo>
                  <a:pt x="1752600" y="1066800"/>
                </a:lnTo>
                <a:lnTo>
                  <a:pt x="17526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48000" y="1981200"/>
            <a:ext cx="1752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sz="1800" b="1" spc="-10" dirty="0">
                <a:latin typeface="Times New Roman"/>
                <a:cs typeface="Times New Roman"/>
              </a:rPr>
              <a:t>MonopolyGame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34253" y="1966722"/>
            <a:ext cx="4581525" cy="1076325"/>
            <a:chOff x="3043237" y="1976437"/>
            <a:chExt cx="4581525" cy="1076325"/>
          </a:xfrm>
        </p:grpSpPr>
        <p:sp>
          <p:nvSpPr>
            <p:cNvPr id="6" name="object 6"/>
            <p:cNvSpPr/>
            <p:nvPr/>
          </p:nvSpPr>
          <p:spPr>
            <a:xfrm>
              <a:off x="3048000" y="24384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53200" y="19812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1066800"/>
                  </a:moveTo>
                  <a:lnTo>
                    <a:pt x="1066800" y="10668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53200" y="1981200"/>
            <a:ext cx="1066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894"/>
              </a:spcBef>
            </a:pPr>
            <a:r>
              <a:rPr sz="2000" b="1" spc="-10" dirty="0">
                <a:latin typeface="Times New Roman"/>
                <a:cs typeface="Times New Roman"/>
              </a:rPr>
              <a:t>Board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33837" y="2433637"/>
            <a:ext cx="3590925" cy="3057525"/>
            <a:chOff x="4033837" y="2433637"/>
            <a:chExt cx="3590925" cy="3057525"/>
          </a:xfrm>
        </p:grpSpPr>
        <p:sp>
          <p:nvSpPr>
            <p:cNvPr id="10" name="object 10"/>
            <p:cNvSpPr/>
            <p:nvPr/>
          </p:nvSpPr>
          <p:spPr>
            <a:xfrm>
              <a:off x="6553200" y="2438400"/>
              <a:ext cx="1066800" cy="0"/>
            </a:xfrm>
            <a:custGeom>
              <a:avLst/>
              <a:gdLst/>
              <a:ahLst/>
              <a:cxnLst/>
              <a:rect l="l" t="t" r="r" b="b"/>
              <a:pathLst>
                <a:path w="1066800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38600" y="44196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1066800"/>
                  </a:moveTo>
                  <a:lnTo>
                    <a:pt x="1066800" y="10668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1066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038600" y="4419600"/>
            <a:ext cx="1066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0"/>
              </a:spcBef>
            </a:pPr>
            <a:r>
              <a:rPr sz="2000" b="1" spc="-10" dirty="0">
                <a:latin typeface="Times New Roman"/>
                <a:cs typeface="Times New Roman"/>
              </a:rPr>
              <a:t>Piece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38600" y="4876800"/>
            <a:ext cx="1066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15"/>
              </a:spcBef>
            </a:pPr>
            <a:r>
              <a:rPr sz="1600" spc="-20" dirty="0">
                <a:latin typeface="Times New Roman"/>
                <a:cs typeface="Times New Roman"/>
              </a:rPr>
              <a:t>name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19200" y="44196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19200" y="4419600"/>
            <a:ext cx="1066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00"/>
              </a:spcBef>
            </a:pPr>
            <a:r>
              <a:rPr sz="2000" b="1" spc="-10" dirty="0">
                <a:latin typeface="Times New Roman"/>
                <a:cs typeface="Times New Roman"/>
              </a:rPr>
              <a:t>Player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9200" y="4876800"/>
            <a:ext cx="1066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915"/>
              </a:spcBef>
            </a:pPr>
            <a:r>
              <a:rPr sz="1600" spc="-20" dirty="0">
                <a:latin typeface="Times New Roman"/>
                <a:cs typeface="Times New Roman"/>
              </a:rPr>
              <a:t>name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200" y="19050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8200" y="1905000"/>
            <a:ext cx="1066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905"/>
              </a:spcBef>
            </a:pPr>
            <a:r>
              <a:rPr sz="1800" b="1" spc="-25" dirty="0">
                <a:latin typeface="Times New Roman"/>
                <a:cs typeface="Times New Roman"/>
              </a:rPr>
              <a:t>Die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8200" y="2362200"/>
            <a:ext cx="1066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0"/>
              </a:spcBef>
            </a:pPr>
            <a:r>
              <a:rPr sz="1600" spc="-10" dirty="0">
                <a:latin typeface="Times New Roman"/>
                <a:cs typeface="Times New Roman"/>
              </a:rPr>
              <a:t>faceValue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05600" y="4343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1066800"/>
                </a:moveTo>
                <a:lnTo>
                  <a:pt x="1066800" y="1066800"/>
                </a:lnTo>
                <a:lnTo>
                  <a:pt x="10668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05600" y="43434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0"/>
              </a:spcBef>
            </a:pPr>
            <a:r>
              <a:rPr sz="2000" b="1" spc="-10" dirty="0">
                <a:latin typeface="Times New Roman"/>
                <a:cs typeface="Times New Roman"/>
              </a:rPr>
              <a:t>Square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05600" y="4876800"/>
            <a:ext cx="1066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15"/>
              </a:spcBef>
            </a:pPr>
            <a:r>
              <a:rPr sz="1600" spc="-20" dirty="0">
                <a:latin typeface="Times New Roman"/>
                <a:cs typeface="Times New Roman"/>
              </a:rPr>
              <a:t>name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71600" y="1524000"/>
            <a:ext cx="5791200" cy="3276600"/>
          </a:xfrm>
          <a:custGeom>
            <a:avLst/>
            <a:gdLst/>
            <a:ahLst/>
            <a:cxnLst/>
            <a:rect l="l" t="t" r="r" b="b"/>
            <a:pathLst>
              <a:path w="5791200" h="3276600">
                <a:moveTo>
                  <a:pt x="0" y="381000"/>
                </a:moveTo>
                <a:lnTo>
                  <a:pt x="0" y="0"/>
                </a:lnTo>
              </a:path>
              <a:path w="5791200" h="3276600">
                <a:moveTo>
                  <a:pt x="0" y="0"/>
                </a:moveTo>
                <a:lnTo>
                  <a:pt x="2133600" y="0"/>
                </a:lnTo>
              </a:path>
              <a:path w="5791200" h="3276600">
                <a:moveTo>
                  <a:pt x="2133600" y="0"/>
                </a:moveTo>
                <a:lnTo>
                  <a:pt x="2133600" y="457200"/>
                </a:lnTo>
              </a:path>
              <a:path w="5791200" h="3276600">
                <a:moveTo>
                  <a:pt x="3124200" y="457200"/>
                </a:moveTo>
                <a:lnTo>
                  <a:pt x="3124200" y="0"/>
                </a:lnTo>
              </a:path>
              <a:path w="5791200" h="3276600">
                <a:moveTo>
                  <a:pt x="3124200" y="0"/>
                </a:moveTo>
                <a:lnTo>
                  <a:pt x="5638800" y="0"/>
                </a:lnTo>
              </a:path>
              <a:path w="5791200" h="3276600">
                <a:moveTo>
                  <a:pt x="5638800" y="0"/>
                </a:moveTo>
                <a:lnTo>
                  <a:pt x="5638800" y="457200"/>
                </a:lnTo>
              </a:path>
              <a:path w="5791200" h="3276600">
                <a:moveTo>
                  <a:pt x="5791200" y="1524000"/>
                </a:moveTo>
                <a:lnTo>
                  <a:pt x="5791200" y="2819400"/>
                </a:lnTo>
              </a:path>
              <a:path w="5791200" h="3276600">
                <a:moveTo>
                  <a:pt x="3733800" y="3276600"/>
                </a:moveTo>
                <a:lnTo>
                  <a:pt x="5334000" y="3276600"/>
                </a:lnTo>
              </a:path>
              <a:path w="5791200" h="3276600">
                <a:moveTo>
                  <a:pt x="914400" y="3200400"/>
                </a:moveTo>
                <a:lnTo>
                  <a:pt x="2667000" y="3200400"/>
                </a:lnTo>
              </a:path>
              <a:path w="5791200" h="3276600">
                <a:moveTo>
                  <a:pt x="381000" y="2895600"/>
                </a:moveTo>
                <a:lnTo>
                  <a:pt x="381000" y="1828800"/>
                </a:lnTo>
              </a:path>
              <a:path w="5791200" h="3276600">
                <a:moveTo>
                  <a:pt x="381000" y="1828800"/>
                </a:moveTo>
                <a:lnTo>
                  <a:pt x="1295400" y="1828800"/>
                </a:lnTo>
              </a:path>
              <a:path w="5791200" h="3276600">
                <a:moveTo>
                  <a:pt x="1295400" y="1828800"/>
                </a:moveTo>
                <a:lnTo>
                  <a:pt x="1295400" y="1066800"/>
                </a:lnTo>
              </a:path>
              <a:path w="5791200" h="3276600">
                <a:moveTo>
                  <a:pt x="1295400" y="1066800"/>
                </a:moveTo>
                <a:lnTo>
                  <a:pt x="167640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60194" y="3456813"/>
            <a:ext cx="453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333CC"/>
                </a:solidFill>
                <a:latin typeface="Times New Roman"/>
                <a:cs typeface="Times New Roman"/>
              </a:rPr>
              <a:t>plays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8775" y="4294708"/>
            <a:ext cx="4546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3333CC"/>
                </a:solidFill>
                <a:latin typeface="Times New Roman"/>
                <a:cs typeface="Times New Roman"/>
              </a:rPr>
              <a:t>owns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89828" y="4447108"/>
            <a:ext cx="443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333CC"/>
                </a:solidFill>
                <a:latin typeface="Times New Roman"/>
                <a:cs typeface="Times New Roman"/>
              </a:rPr>
              <a:t>Is-</a:t>
            </a:r>
            <a:r>
              <a:rPr sz="1600" spc="-25" dirty="0">
                <a:solidFill>
                  <a:srgbClr val="3333CC"/>
                </a:solidFill>
                <a:latin typeface="Times New Roman"/>
                <a:cs typeface="Times New Roman"/>
              </a:rPr>
              <a:t>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71409" y="3533013"/>
            <a:ext cx="702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3333CC"/>
                </a:solidFill>
                <a:latin typeface="Times New Roman"/>
                <a:cs typeface="Times New Roman"/>
              </a:rPr>
              <a:t>contains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19009" y="3152012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19009" y="3990213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3333CC"/>
                </a:solidFill>
                <a:latin typeface="Times New Roman"/>
                <a:cs typeface="Times New Roman"/>
              </a:rPr>
              <a:t>40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61228" y="4904994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3333CC"/>
                </a:solidFill>
                <a:latin typeface="Times New Roman"/>
                <a:cs typeface="Times New Roman"/>
              </a:rPr>
              <a:t>0..8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8028" y="4904994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3444" y="1032408"/>
            <a:ext cx="4953635" cy="787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180"/>
              </a:spcBef>
              <a:tabLst>
                <a:tab pos="4127500" algn="l"/>
              </a:tabLst>
            </a:pPr>
            <a:r>
              <a:rPr sz="1600" spc="-10" dirty="0">
                <a:solidFill>
                  <a:srgbClr val="3333CC"/>
                </a:solidFill>
                <a:latin typeface="Times New Roman"/>
                <a:cs typeface="Times New Roman"/>
              </a:rPr>
              <a:t>played-</a:t>
            </a:r>
            <a:r>
              <a:rPr sz="1600" spc="-20" dirty="0">
                <a:solidFill>
                  <a:srgbClr val="3333CC"/>
                </a:solidFill>
                <a:latin typeface="Times New Roman"/>
                <a:cs typeface="Times New Roman"/>
              </a:rPr>
              <a:t>with</a:t>
            </a:r>
            <a:r>
              <a:rPr sz="1600" dirty="0">
                <a:solidFill>
                  <a:srgbClr val="3333CC"/>
                </a:solidFill>
                <a:latin typeface="Times New Roman"/>
                <a:cs typeface="Times New Roman"/>
              </a:rPr>
              <a:t>	</a:t>
            </a:r>
            <a:r>
              <a:rPr sz="1600" spc="-10" dirty="0">
                <a:solidFill>
                  <a:srgbClr val="3333CC"/>
                </a:solidFill>
                <a:latin typeface="Times New Roman"/>
                <a:cs typeface="Times New Roman"/>
              </a:rPr>
              <a:t>played-</a:t>
            </a:r>
            <a:r>
              <a:rPr sz="1600" spc="-25" dirty="0">
                <a:solidFill>
                  <a:srgbClr val="3333CC"/>
                </a:solidFill>
                <a:latin typeface="Times New Roman"/>
                <a:cs typeface="Times New Roman"/>
              </a:rPr>
              <a:t>on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spc="-5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5844" y="4066413"/>
            <a:ext cx="329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3333CC"/>
                </a:solidFill>
                <a:latin typeface="Times New Roman"/>
                <a:cs typeface="Times New Roman"/>
              </a:rPr>
              <a:t>2..8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897885" y="6121400"/>
            <a:ext cx="30422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Domain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Model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Iteration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28">
            <a:extLst>
              <a:ext uri="{FF2B5EF4-FFF2-40B4-BE49-F238E27FC236}">
                <a16:creationId xmlns:a16="http://schemas.microsoft.com/office/drawing/2014/main" id="{408A1966-F861-7289-EAEA-CA8F844BB70D}"/>
              </a:ext>
            </a:extLst>
          </p:cNvPr>
          <p:cNvSpPr txBox="1"/>
          <p:nvPr/>
        </p:nvSpPr>
        <p:spPr>
          <a:xfrm>
            <a:off x="7077616" y="1660272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189" rIns="0" bIns="0" rtlCol="0">
            <a:spAutoFit/>
          </a:bodyPr>
          <a:lstStyle/>
          <a:p>
            <a:pPr marL="3389629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Creator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1625"/>
            <a:ext cx="3538220" cy="865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Who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creates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object?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Creator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pattern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5116" y="2555620"/>
            <a:ext cx="8636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Name: Problem: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4247" y="2555620"/>
            <a:ext cx="2360930" cy="84899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spc="-10" dirty="0">
                <a:latin typeface="Times New Roman"/>
                <a:cs typeface="Times New Roman"/>
              </a:rPr>
              <a:t>Creator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Who creates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 object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116" y="3379088"/>
            <a:ext cx="5788660" cy="249491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Times New Roman"/>
                <a:cs typeface="Times New Roman"/>
              </a:rPr>
              <a:t>Solution </a:t>
            </a: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class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create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class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if:</a:t>
            </a:r>
            <a:endParaRPr sz="1800">
              <a:latin typeface="Times New Roman"/>
              <a:cs typeface="Times New Roman"/>
            </a:endParaRPr>
          </a:p>
          <a:p>
            <a:pPr marL="606425" indent="-137160">
              <a:lnSpc>
                <a:spcPct val="100000"/>
              </a:lnSpc>
              <a:spcBef>
                <a:spcPts val="1080"/>
              </a:spcBef>
              <a:buChar char="•"/>
              <a:tabLst>
                <a:tab pos="607060" algn="l"/>
              </a:tabLst>
            </a:pP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 a composite of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composition/aggregation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605790" indent="-136525">
              <a:lnSpc>
                <a:spcPct val="100000"/>
              </a:lnSpc>
              <a:spcBef>
                <a:spcPts val="1080"/>
              </a:spcBef>
              <a:buChar char="•"/>
              <a:tabLst>
                <a:tab pos="606425" algn="l"/>
              </a:tabLst>
            </a:pPr>
            <a:r>
              <a:rPr sz="1800" dirty="0">
                <a:latin typeface="Times New Roman"/>
                <a:cs typeface="Times New Roman"/>
              </a:rPr>
              <a:t>B contains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contains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606425" indent="-137160">
              <a:lnSpc>
                <a:spcPct val="100000"/>
              </a:lnSpc>
              <a:spcBef>
                <a:spcPts val="1080"/>
              </a:spcBef>
              <a:buChar char="•"/>
              <a:tabLst>
                <a:tab pos="607060" algn="l"/>
              </a:tabLst>
            </a:pP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holds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instances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records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606425" indent="-137160">
              <a:lnSpc>
                <a:spcPct val="100000"/>
              </a:lnSpc>
              <a:spcBef>
                <a:spcPts val="1080"/>
              </a:spcBef>
              <a:buChar char="•"/>
              <a:tabLst>
                <a:tab pos="607060" algn="l"/>
              </a:tabLst>
            </a:pP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closely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collaborates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with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objects</a:t>
            </a:r>
            <a:endParaRPr sz="1800">
              <a:latin typeface="Times New Roman"/>
              <a:cs typeface="Times New Roman"/>
            </a:endParaRPr>
          </a:p>
          <a:p>
            <a:pPr marL="605790" indent="-136525">
              <a:lnSpc>
                <a:spcPct val="100000"/>
              </a:lnSpc>
              <a:spcBef>
                <a:spcPts val="1080"/>
              </a:spcBef>
              <a:buChar char="•"/>
              <a:tabLst>
                <a:tab pos="606425" algn="l"/>
              </a:tabLst>
            </a:pPr>
            <a:r>
              <a:rPr sz="1800" dirty="0">
                <a:latin typeface="Times New Roman"/>
                <a:cs typeface="Times New Roman"/>
              </a:rPr>
              <a:t>B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information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needed 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creating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objects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676400"/>
            <a:ext cx="1524000" cy="1371600"/>
          </a:xfrm>
          <a:custGeom>
            <a:avLst/>
            <a:gdLst/>
            <a:ahLst/>
            <a:cxnLst/>
            <a:rect l="l" t="t" r="r" b="b"/>
            <a:pathLst>
              <a:path w="1524000" h="1371600">
                <a:moveTo>
                  <a:pt x="0" y="1371600"/>
                </a:moveTo>
                <a:lnTo>
                  <a:pt x="1524000" y="1371600"/>
                </a:lnTo>
                <a:lnTo>
                  <a:pt x="1524000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9200" y="1676400"/>
            <a:ext cx="15240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Board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9200" y="2209800"/>
            <a:ext cx="1524000" cy="0"/>
          </a:xfrm>
          <a:custGeom>
            <a:avLst/>
            <a:gdLst/>
            <a:ahLst/>
            <a:cxnLst/>
            <a:rect l="l" t="t" r="r" b="b"/>
            <a:pathLst>
              <a:path w="1524000">
                <a:moveTo>
                  <a:pt x="0" y="0"/>
                </a:moveTo>
                <a:lnTo>
                  <a:pt x="15240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53037" y="1671637"/>
          <a:ext cx="1524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Square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738437" y="2205037"/>
            <a:ext cx="2519680" cy="314325"/>
            <a:chOff x="2738437" y="2205037"/>
            <a:chExt cx="2519680" cy="314325"/>
          </a:xfrm>
        </p:grpSpPr>
        <p:sp>
          <p:nvSpPr>
            <p:cNvPr id="7" name="object 7"/>
            <p:cNvSpPr/>
            <p:nvPr/>
          </p:nvSpPr>
          <p:spPr>
            <a:xfrm>
              <a:off x="2743200" y="220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04800" y="0"/>
                  </a:moveTo>
                  <a:lnTo>
                    <a:pt x="0" y="152400"/>
                  </a:lnTo>
                  <a:lnTo>
                    <a:pt x="304800" y="304800"/>
                  </a:lnTo>
                  <a:lnTo>
                    <a:pt x="609600" y="1524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3200" y="2209800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0" y="152400"/>
                  </a:moveTo>
                  <a:lnTo>
                    <a:pt x="304800" y="0"/>
                  </a:lnTo>
                  <a:lnTo>
                    <a:pt x="609600" y="152400"/>
                  </a:lnTo>
                  <a:lnTo>
                    <a:pt x="304800" y="3048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52800" y="232410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1828800" y="0"/>
                  </a:moveTo>
                  <a:lnTo>
                    <a:pt x="1828800" y="76200"/>
                  </a:lnTo>
                  <a:lnTo>
                    <a:pt x="1892300" y="44450"/>
                  </a:lnTo>
                  <a:lnTo>
                    <a:pt x="1841500" y="44450"/>
                  </a:lnTo>
                  <a:lnTo>
                    <a:pt x="1841500" y="31750"/>
                  </a:lnTo>
                  <a:lnTo>
                    <a:pt x="1892300" y="31750"/>
                  </a:lnTo>
                  <a:lnTo>
                    <a:pt x="1828800" y="0"/>
                  </a:lnTo>
                  <a:close/>
                </a:path>
                <a:path w="1905000" h="76200">
                  <a:moveTo>
                    <a:pt x="1828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828800" y="44450"/>
                  </a:lnTo>
                  <a:lnTo>
                    <a:pt x="1828800" y="31750"/>
                  </a:lnTo>
                  <a:close/>
                </a:path>
                <a:path w="1905000" h="76200">
                  <a:moveTo>
                    <a:pt x="1892300" y="31750"/>
                  </a:moveTo>
                  <a:lnTo>
                    <a:pt x="1841500" y="31750"/>
                  </a:lnTo>
                  <a:lnTo>
                    <a:pt x="1841500" y="44450"/>
                  </a:lnTo>
                  <a:lnTo>
                    <a:pt x="1892300" y="44450"/>
                  </a:lnTo>
                  <a:lnTo>
                    <a:pt x="1905000" y="38100"/>
                  </a:lnTo>
                  <a:lnTo>
                    <a:pt x="18923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04028" y="2008758"/>
            <a:ext cx="229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40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9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Implementation</a:t>
            </a:r>
            <a:r>
              <a:rPr spc="-6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Creator</a:t>
            </a:r>
            <a:r>
              <a:rPr spc="-105" dirty="0"/>
              <a:t> </a:t>
            </a:r>
            <a:r>
              <a:rPr dirty="0"/>
              <a:t>Pattern</a:t>
            </a:r>
            <a:r>
              <a:rPr spc="-5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Monoply</a:t>
            </a:r>
          </a:p>
        </p:txBody>
      </p:sp>
      <p:sp>
        <p:nvSpPr>
          <p:cNvPr id="12" name="object 12"/>
          <p:cNvSpPr/>
          <p:nvPr/>
        </p:nvSpPr>
        <p:spPr>
          <a:xfrm>
            <a:off x="533400" y="44577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50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0800" y="44450"/>
                </a:lnTo>
                <a:lnTo>
                  <a:pt x="50800" y="31750"/>
                </a:lnTo>
                <a:close/>
              </a:path>
              <a:path w="1219200" h="76200">
                <a:moveTo>
                  <a:pt x="139700" y="31750"/>
                </a:moveTo>
                <a:lnTo>
                  <a:pt x="88900" y="31750"/>
                </a:lnTo>
                <a:lnTo>
                  <a:pt x="88900" y="44450"/>
                </a:lnTo>
                <a:lnTo>
                  <a:pt x="139700" y="44450"/>
                </a:lnTo>
                <a:lnTo>
                  <a:pt x="139700" y="31750"/>
                </a:lnTo>
                <a:close/>
              </a:path>
              <a:path w="1219200" h="76200">
                <a:moveTo>
                  <a:pt x="228600" y="31750"/>
                </a:moveTo>
                <a:lnTo>
                  <a:pt x="177800" y="31750"/>
                </a:lnTo>
                <a:lnTo>
                  <a:pt x="177800" y="44450"/>
                </a:lnTo>
                <a:lnTo>
                  <a:pt x="228600" y="44450"/>
                </a:lnTo>
                <a:lnTo>
                  <a:pt x="228600" y="31750"/>
                </a:lnTo>
                <a:close/>
              </a:path>
              <a:path w="1219200" h="76200">
                <a:moveTo>
                  <a:pt x="317500" y="31750"/>
                </a:moveTo>
                <a:lnTo>
                  <a:pt x="266700" y="31750"/>
                </a:lnTo>
                <a:lnTo>
                  <a:pt x="266700" y="44450"/>
                </a:lnTo>
                <a:lnTo>
                  <a:pt x="317500" y="44450"/>
                </a:lnTo>
                <a:lnTo>
                  <a:pt x="317500" y="31750"/>
                </a:lnTo>
                <a:close/>
              </a:path>
              <a:path w="1219200" h="76200">
                <a:moveTo>
                  <a:pt x="406400" y="31750"/>
                </a:moveTo>
                <a:lnTo>
                  <a:pt x="355600" y="31750"/>
                </a:lnTo>
                <a:lnTo>
                  <a:pt x="355600" y="44450"/>
                </a:lnTo>
                <a:lnTo>
                  <a:pt x="406400" y="44450"/>
                </a:lnTo>
                <a:lnTo>
                  <a:pt x="406400" y="31750"/>
                </a:lnTo>
                <a:close/>
              </a:path>
              <a:path w="1219200" h="76200">
                <a:moveTo>
                  <a:pt x="495300" y="31750"/>
                </a:moveTo>
                <a:lnTo>
                  <a:pt x="444500" y="31750"/>
                </a:lnTo>
                <a:lnTo>
                  <a:pt x="444500" y="44450"/>
                </a:lnTo>
                <a:lnTo>
                  <a:pt x="495300" y="44450"/>
                </a:lnTo>
                <a:lnTo>
                  <a:pt x="495300" y="31750"/>
                </a:lnTo>
                <a:close/>
              </a:path>
              <a:path w="1219200" h="76200">
                <a:moveTo>
                  <a:pt x="584200" y="31750"/>
                </a:moveTo>
                <a:lnTo>
                  <a:pt x="533400" y="31750"/>
                </a:lnTo>
                <a:lnTo>
                  <a:pt x="533400" y="44450"/>
                </a:lnTo>
                <a:lnTo>
                  <a:pt x="584200" y="44450"/>
                </a:lnTo>
                <a:lnTo>
                  <a:pt x="584200" y="31750"/>
                </a:lnTo>
                <a:close/>
              </a:path>
              <a:path w="1219200" h="76200">
                <a:moveTo>
                  <a:pt x="673100" y="31750"/>
                </a:moveTo>
                <a:lnTo>
                  <a:pt x="622300" y="31750"/>
                </a:lnTo>
                <a:lnTo>
                  <a:pt x="622300" y="44450"/>
                </a:lnTo>
                <a:lnTo>
                  <a:pt x="673100" y="44450"/>
                </a:lnTo>
                <a:lnTo>
                  <a:pt x="673100" y="31750"/>
                </a:lnTo>
                <a:close/>
              </a:path>
              <a:path w="1219200" h="76200">
                <a:moveTo>
                  <a:pt x="762000" y="31750"/>
                </a:moveTo>
                <a:lnTo>
                  <a:pt x="711200" y="31750"/>
                </a:lnTo>
                <a:lnTo>
                  <a:pt x="711200" y="44450"/>
                </a:lnTo>
                <a:lnTo>
                  <a:pt x="762000" y="44450"/>
                </a:lnTo>
                <a:lnTo>
                  <a:pt x="762000" y="31750"/>
                </a:lnTo>
                <a:close/>
              </a:path>
              <a:path w="1219200" h="76200">
                <a:moveTo>
                  <a:pt x="850900" y="31750"/>
                </a:moveTo>
                <a:lnTo>
                  <a:pt x="800100" y="31750"/>
                </a:lnTo>
                <a:lnTo>
                  <a:pt x="800100" y="44450"/>
                </a:lnTo>
                <a:lnTo>
                  <a:pt x="850900" y="44450"/>
                </a:lnTo>
                <a:lnTo>
                  <a:pt x="850900" y="31750"/>
                </a:lnTo>
                <a:close/>
              </a:path>
              <a:path w="1219200" h="76200">
                <a:moveTo>
                  <a:pt x="939800" y="31750"/>
                </a:moveTo>
                <a:lnTo>
                  <a:pt x="889000" y="31750"/>
                </a:lnTo>
                <a:lnTo>
                  <a:pt x="889000" y="44450"/>
                </a:lnTo>
                <a:lnTo>
                  <a:pt x="939800" y="44450"/>
                </a:lnTo>
                <a:lnTo>
                  <a:pt x="939800" y="31750"/>
                </a:lnTo>
                <a:close/>
              </a:path>
              <a:path w="1219200" h="76200">
                <a:moveTo>
                  <a:pt x="1028700" y="31750"/>
                </a:moveTo>
                <a:lnTo>
                  <a:pt x="977900" y="31750"/>
                </a:lnTo>
                <a:lnTo>
                  <a:pt x="977900" y="44450"/>
                </a:lnTo>
                <a:lnTo>
                  <a:pt x="1028700" y="44450"/>
                </a:lnTo>
                <a:lnTo>
                  <a:pt x="1028700" y="31750"/>
                </a:lnTo>
                <a:close/>
              </a:path>
              <a:path w="1219200" h="76200">
                <a:moveTo>
                  <a:pt x="1117600" y="31750"/>
                </a:moveTo>
                <a:lnTo>
                  <a:pt x="1066800" y="31750"/>
                </a:lnTo>
                <a:lnTo>
                  <a:pt x="1066800" y="44450"/>
                </a:lnTo>
                <a:lnTo>
                  <a:pt x="1117600" y="44450"/>
                </a:lnTo>
                <a:lnTo>
                  <a:pt x="1117600" y="31750"/>
                </a:lnTo>
                <a:close/>
              </a:path>
              <a:path w="1219200" h="76200">
                <a:moveTo>
                  <a:pt x="1143000" y="0"/>
                </a:moveTo>
                <a:lnTo>
                  <a:pt x="1143000" y="76200"/>
                </a:lnTo>
                <a:lnTo>
                  <a:pt x="1206500" y="44450"/>
                </a:lnTo>
                <a:lnTo>
                  <a:pt x="1155700" y="44450"/>
                </a:lnTo>
                <a:lnTo>
                  <a:pt x="1155700" y="31750"/>
                </a:lnTo>
                <a:lnTo>
                  <a:pt x="1206500" y="31750"/>
                </a:lnTo>
                <a:lnTo>
                  <a:pt x="1143000" y="0"/>
                </a:lnTo>
                <a:close/>
              </a:path>
              <a:path w="1219200" h="76200">
                <a:moveTo>
                  <a:pt x="1206500" y="31750"/>
                </a:moveTo>
                <a:lnTo>
                  <a:pt x="1155700" y="31750"/>
                </a:lnTo>
                <a:lnTo>
                  <a:pt x="1155700" y="44450"/>
                </a:lnTo>
                <a:lnTo>
                  <a:pt x="1206500" y="44450"/>
                </a:lnTo>
                <a:lnTo>
                  <a:pt x="1219200" y="38100"/>
                </a:lnTo>
                <a:lnTo>
                  <a:pt x="1206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4540" y="4142613"/>
            <a:ext cx="509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create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09837" y="4800600"/>
            <a:ext cx="2748280" cy="1295400"/>
            <a:chOff x="2509837" y="4800600"/>
            <a:chExt cx="2748280" cy="1295400"/>
          </a:xfrm>
        </p:grpSpPr>
        <p:sp>
          <p:nvSpPr>
            <p:cNvPr id="15" name="object 15"/>
            <p:cNvSpPr/>
            <p:nvPr/>
          </p:nvSpPr>
          <p:spPr>
            <a:xfrm>
              <a:off x="2514600" y="4800600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0"/>
                  </a:moveTo>
                  <a:lnTo>
                    <a:pt x="0" y="129540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14600" y="5448300"/>
              <a:ext cx="2743200" cy="76200"/>
            </a:xfrm>
            <a:custGeom>
              <a:avLst/>
              <a:gdLst/>
              <a:ahLst/>
              <a:cxnLst/>
              <a:rect l="l" t="t" r="r" b="b"/>
              <a:pathLst>
                <a:path w="2743200" h="76200">
                  <a:moveTo>
                    <a:pt x="508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0800" y="44450"/>
                  </a:lnTo>
                  <a:lnTo>
                    <a:pt x="50800" y="31750"/>
                  </a:lnTo>
                  <a:close/>
                </a:path>
                <a:path w="2743200" h="76200">
                  <a:moveTo>
                    <a:pt x="139700" y="31750"/>
                  </a:moveTo>
                  <a:lnTo>
                    <a:pt x="88900" y="31750"/>
                  </a:lnTo>
                  <a:lnTo>
                    <a:pt x="88900" y="44450"/>
                  </a:lnTo>
                  <a:lnTo>
                    <a:pt x="139700" y="44450"/>
                  </a:lnTo>
                  <a:lnTo>
                    <a:pt x="139700" y="31750"/>
                  </a:lnTo>
                  <a:close/>
                </a:path>
                <a:path w="2743200" h="76200">
                  <a:moveTo>
                    <a:pt x="228600" y="31750"/>
                  </a:moveTo>
                  <a:lnTo>
                    <a:pt x="177800" y="31750"/>
                  </a:lnTo>
                  <a:lnTo>
                    <a:pt x="177800" y="44450"/>
                  </a:lnTo>
                  <a:lnTo>
                    <a:pt x="228600" y="44450"/>
                  </a:lnTo>
                  <a:lnTo>
                    <a:pt x="228600" y="31750"/>
                  </a:lnTo>
                  <a:close/>
                </a:path>
                <a:path w="2743200" h="76200">
                  <a:moveTo>
                    <a:pt x="317500" y="31750"/>
                  </a:moveTo>
                  <a:lnTo>
                    <a:pt x="266700" y="31750"/>
                  </a:lnTo>
                  <a:lnTo>
                    <a:pt x="266700" y="44450"/>
                  </a:lnTo>
                  <a:lnTo>
                    <a:pt x="317500" y="44450"/>
                  </a:lnTo>
                  <a:lnTo>
                    <a:pt x="317500" y="31750"/>
                  </a:lnTo>
                  <a:close/>
                </a:path>
                <a:path w="2743200" h="76200">
                  <a:moveTo>
                    <a:pt x="406400" y="31750"/>
                  </a:moveTo>
                  <a:lnTo>
                    <a:pt x="355600" y="31750"/>
                  </a:lnTo>
                  <a:lnTo>
                    <a:pt x="355600" y="44450"/>
                  </a:lnTo>
                  <a:lnTo>
                    <a:pt x="406400" y="44450"/>
                  </a:lnTo>
                  <a:lnTo>
                    <a:pt x="406400" y="31750"/>
                  </a:lnTo>
                  <a:close/>
                </a:path>
                <a:path w="2743200" h="76200">
                  <a:moveTo>
                    <a:pt x="495300" y="31750"/>
                  </a:moveTo>
                  <a:lnTo>
                    <a:pt x="444500" y="31750"/>
                  </a:lnTo>
                  <a:lnTo>
                    <a:pt x="444500" y="44450"/>
                  </a:lnTo>
                  <a:lnTo>
                    <a:pt x="495300" y="44450"/>
                  </a:lnTo>
                  <a:lnTo>
                    <a:pt x="495300" y="31750"/>
                  </a:lnTo>
                  <a:close/>
                </a:path>
                <a:path w="2743200" h="76200">
                  <a:moveTo>
                    <a:pt x="584200" y="31750"/>
                  </a:moveTo>
                  <a:lnTo>
                    <a:pt x="533400" y="31750"/>
                  </a:lnTo>
                  <a:lnTo>
                    <a:pt x="533400" y="44450"/>
                  </a:lnTo>
                  <a:lnTo>
                    <a:pt x="584200" y="44450"/>
                  </a:lnTo>
                  <a:lnTo>
                    <a:pt x="584200" y="31750"/>
                  </a:lnTo>
                  <a:close/>
                </a:path>
                <a:path w="2743200" h="76200">
                  <a:moveTo>
                    <a:pt x="673100" y="31750"/>
                  </a:moveTo>
                  <a:lnTo>
                    <a:pt x="622300" y="31750"/>
                  </a:lnTo>
                  <a:lnTo>
                    <a:pt x="622300" y="44450"/>
                  </a:lnTo>
                  <a:lnTo>
                    <a:pt x="673100" y="44450"/>
                  </a:lnTo>
                  <a:lnTo>
                    <a:pt x="673100" y="31750"/>
                  </a:lnTo>
                  <a:close/>
                </a:path>
                <a:path w="2743200" h="76200">
                  <a:moveTo>
                    <a:pt x="762000" y="31750"/>
                  </a:moveTo>
                  <a:lnTo>
                    <a:pt x="711200" y="31750"/>
                  </a:lnTo>
                  <a:lnTo>
                    <a:pt x="711200" y="44450"/>
                  </a:lnTo>
                  <a:lnTo>
                    <a:pt x="762000" y="44450"/>
                  </a:lnTo>
                  <a:lnTo>
                    <a:pt x="762000" y="31750"/>
                  </a:lnTo>
                  <a:close/>
                </a:path>
                <a:path w="2743200" h="76200">
                  <a:moveTo>
                    <a:pt x="850900" y="31750"/>
                  </a:moveTo>
                  <a:lnTo>
                    <a:pt x="800100" y="31750"/>
                  </a:lnTo>
                  <a:lnTo>
                    <a:pt x="800100" y="44450"/>
                  </a:lnTo>
                  <a:lnTo>
                    <a:pt x="850900" y="44450"/>
                  </a:lnTo>
                  <a:lnTo>
                    <a:pt x="850900" y="31750"/>
                  </a:lnTo>
                  <a:close/>
                </a:path>
                <a:path w="2743200" h="76200">
                  <a:moveTo>
                    <a:pt x="939800" y="31750"/>
                  </a:moveTo>
                  <a:lnTo>
                    <a:pt x="889000" y="31750"/>
                  </a:lnTo>
                  <a:lnTo>
                    <a:pt x="889000" y="44450"/>
                  </a:lnTo>
                  <a:lnTo>
                    <a:pt x="939800" y="44450"/>
                  </a:lnTo>
                  <a:lnTo>
                    <a:pt x="939800" y="31750"/>
                  </a:lnTo>
                  <a:close/>
                </a:path>
                <a:path w="2743200" h="76200">
                  <a:moveTo>
                    <a:pt x="1028700" y="31750"/>
                  </a:moveTo>
                  <a:lnTo>
                    <a:pt x="977900" y="31750"/>
                  </a:lnTo>
                  <a:lnTo>
                    <a:pt x="977900" y="44450"/>
                  </a:lnTo>
                  <a:lnTo>
                    <a:pt x="1028700" y="44450"/>
                  </a:lnTo>
                  <a:lnTo>
                    <a:pt x="1028700" y="31750"/>
                  </a:lnTo>
                  <a:close/>
                </a:path>
                <a:path w="2743200" h="76200">
                  <a:moveTo>
                    <a:pt x="1117600" y="31750"/>
                  </a:moveTo>
                  <a:lnTo>
                    <a:pt x="1066800" y="31750"/>
                  </a:lnTo>
                  <a:lnTo>
                    <a:pt x="1066800" y="44450"/>
                  </a:lnTo>
                  <a:lnTo>
                    <a:pt x="1117600" y="44450"/>
                  </a:lnTo>
                  <a:lnTo>
                    <a:pt x="1117600" y="31750"/>
                  </a:lnTo>
                  <a:close/>
                </a:path>
                <a:path w="2743200" h="76200">
                  <a:moveTo>
                    <a:pt x="1206500" y="31750"/>
                  </a:moveTo>
                  <a:lnTo>
                    <a:pt x="1155700" y="31750"/>
                  </a:lnTo>
                  <a:lnTo>
                    <a:pt x="1155700" y="44450"/>
                  </a:lnTo>
                  <a:lnTo>
                    <a:pt x="1206500" y="44450"/>
                  </a:lnTo>
                  <a:lnTo>
                    <a:pt x="1206500" y="31750"/>
                  </a:lnTo>
                  <a:close/>
                </a:path>
                <a:path w="2743200" h="76200">
                  <a:moveTo>
                    <a:pt x="1295400" y="31750"/>
                  </a:moveTo>
                  <a:lnTo>
                    <a:pt x="1244600" y="31750"/>
                  </a:lnTo>
                  <a:lnTo>
                    <a:pt x="1244600" y="44450"/>
                  </a:lnTo>
                  <a:lnTo>
                    <a:pt x="1295400" y="44450"/>
                  </a:lnTo>
                  <a:lnTo>
                    <a:pt x="1295400" y="31750"/>
                  </a:lnTo>
                  <a:close/>
                </a:path>
                <a:path w="2743200" h="76200">
                  <a:moveTo>
                    <a:pt x="1384300" y="31750"/>
                  </a:moveTo>
                  <a:lnTo>
                    <a:pt x="1333500" y="31750"/>
                  </a:lnTo>
                  <a:lnTo>
                    <a:pt x="1333500" y="44450"/>
                  </a:lnTo>
                  <a:lnTo>
                    <a:pt x="1384300" y="44450"/>
                  </a:lnTo>
                  <a:lnTo>
                    <a:pt x="1384300" y="31750"/>
                  </a:lnTo>
                  <a:close/>
                </a:path>
                <a:path w="2743200" h="76200">
                  <a:moveTo>
                    <a:pt x="1473200" y="31750"/>
                  </a:moveTo>
                  <a:lnTo>
                    <a:pt x="1422400" y="31750"/>
                  </a:lnTo>
                  <a:lnTo>
                    <a:pt x="1422400" y="44450"/>
                  </a:lnTo>
                  <a:lnTo>
                    <a:pt x="1473200" y="44450"/>
                  </a:lnTo>
                  <a:lnTo>
                    <a:pt x="1473200" y="31750"/>
                  </a:lnTo>
                  <a:close/>
                </a:path>
                <a:path w="2743200" h="76200">
                  <a:moveTo>
                    <a:pt x="1562100" y="31750"/>
                  </a:moveTo>
                  <a:lnTo>
                    <a:pt x="1511300" y="31750"/>
                  </a:lnTo>
                  <a:lnTo>
                    <a:pt x="1511300" y="44450"/>
                  </a:lnTo>
                  <a:lnTo>
                    <a:pt x="1562100" y="44450"/>
                  </a:lnTo>
                  <a:lnTo>
                    <a:pt x="1562100" y="31750"/>
                  </a:lnTo>
                  <a:close/>
                </a:path>
                <a:path w="2743200" h="76200">
                  <a:moveTo>
                    <a:pt x="1651000" y="31750"/>
                  </a:moveTo>
                  <a:lnTo>
                    <a:pt x="1600200" y="31750"/>
                  </a:lnTo>
                  <a:lnTo>
                    <a:pt x="1600200" y="44450"/>
                  </a:lnTo>
                  <a:lnTo>
                    <a:pt x="1651000" y="44450"/>
                  </a:lnTo>
                  <a:lnTo>
                    <a:pt x="1651000" y="31750"/>
                  </a:lnTo>
                  <a:close/>
                </a:path>
                <a:path w="2743200" h="76200">
                  <a:moveTo>
                    <a:pt x="1739900" y="31750"/>
                  </a:moveTo>
                  <a:lnTo>
                    <a:pt x="1689100" y="31750"/>
                  </a:lnTo>
                  <a:lnTo>
                    <a:pt x="1689100" y="44450"/>
                  </a:lnTo>
                  <a:lnTo>
                    <a:pt x="1739900" y="44450"/>
                  </a:lnTo>
                  <a:lnTo>
                    <a:pt x="1739900" y="31750"/>
                  </a:lnTo>
                  <a:close/>
                </a:path>
                <a:path w="2743200" h="76200">
                  <a:moveTo>
                    <a:pt x="1828800" y="31750"/>
                  </a:moveTo>
                  <a:lnTo>
                    <a:pt x="1778000" y="31750"/>
                  </a:lnTo>
                  <a:lnTo>
                    <a:pt x="1778000" y="44450"/>
                  </a:lnTo>
                  <a:lnTo>
                    <a:pt x="1828800" y="44450"/>
                  </a:lnTo>
                  <a:lnTo>
                    <a:pt x="1828800" y="31750"/>
                  </a:lnTo>
                  <a:close/>
                </a:path>
                <a:path w="2743200" h="76200">
                  <a:moveTo>
                    <a:pt x="1917700" y="31750"/>
                  </a:moveTo>
                  <a:lnTo>
                    <a:pt x="1866900" y="31750"/>
                  </a:lnTo>
                  <a:lnTo>
                    <a:pt x="1866900" y="44450"/>
                  </a:lnTo>
                  <a:lnTo>
                    <a:pt x="1917700" y="44450"/>
                  </a:lnTo>
                  <a:lnTo>
                    <a:pt x="1917700" y="31750"/>
                  </a:lnTo>
                  <a:close/>
                </a:path>
                <a:path w="2743200" h="76200">
                  <a:moveTo>
                    <a:pt x="2006600" y="31750"/>
                  </a:moveTo>
                  <a:lnTo>
                    <a:pt x="1955800" y="31750"/>
                  </a:lnTo>
                  <a:lnTo>
                    <a:pt x="1955800" y="44450"/>
                  </a:lnTo>
                  <a:lnTo>
                    <a:pt x="2006600" y="44450"/>
                  </a:lnTo>
                  <a:lnTo>
                    <a:pt x="2006600" y="31750"/>
                  </a:lnTo>
                  <a:close/>
                </a:path>
                <a:path w="2743200" h="76200">
                  <a:moveTo>
                    <a:pt x="2095500" y="31750"/>
                  </a:moveTo>
                  <a:lnTo>
                    <a:pt x="2044700" y="31750"/>
                  </a:lnTo>
                  <a:lnTo>
                    <a:pt x="2044700" y="44450"/>
                  </a:lnTo>
                  <a:lnTo>
                    <a:pt x="2095500" y="44450"/>
                  </a:lnTo>
                  <a:lnTo>
                    <a:pt x="2095500" y="31750"/>
                  </a:lnTo>
                  <a:close/>
                </a:path>
                <a:path w="2743200" h="76200">
                  <a:moveTo>
                    <a:pt x="2184400" y="31750"/>
                  </a:moveTo>
                  <a:lnTo>
                    <a:pt x="2133600" y="31750"/>
                  </a:lnTo>
                  <a:lnTo>
                    <a:pt x="2133600" y="44450"/>
                  </a:lnTo>
                  <a:lnTo>
                    <a:pt x="2184400" y="44450"/>
                  </a:lnTo>
                  <a:lnTo>
                    <a:pt x="2184400" y="31750"/>
                  </a:lnTo>
                  <a:close/>
                </a:path>
                <a:path w="2743200" h="76200">
                  <a:moveTo>
                    <a:pt x="2273300" y="31750"/>
                  </a:moveTo>
                  <a:lnTo>
                    <a:pt x="2222500" y="31750"/>
                  </a:lnTo>
                  <a:lnTo>
                    <a:pt x="2222500" y="44450"/>
                  </a:lnTo>
                  <a:lnTo>
                    <a:pt x="2273300" y="44450"/>
                  </a:lnTo>
                  <a:lnTo>
                    <a:pt x="2273300" y="31750"/>
                  </a:lnTo>
                  <a:close/>
                </a:path>
                <a:path w="2743200" h="76200">
                  <a:moveTo>
                    <a:pt x="2362200" y="31750"/>
                  </a:moveTo>
                  <a:lnTo>
                    <a:pt x="2311400" y="31750"/>
                  </a:lnTo>
                  <a:lnTo>
                    <a:pt x="2311400" y="44450"/>
                  </a:lnTo>
                  <a:lnTo>
                    <a:pt x="2362200" y="44450"/>
                  </a:lnTo>
                  <a:lnTo>
                    <a:pt x="2362200" y="31750"/>
                  </a:lnTo>
                  <a:close/>
                </a:path>
                <a:path w="2743200" h="76200">
                  <a:moveTo>
                    <a:pt x="2451100" y="31750"/>
                  </a:moveTo>
                  <a:lnTo>
                    <a:pt x="2400300" y="31750"/>
                  </a:lnTo>
                  <a:lnTo>
                    <a:pt x="2400300" y="44450"/>
                  </a:lnTo>
                  <a:lnTo>
                    <a:pt x="2451100" y="44450"/>
                  </a:lnTo>
                  <a:lnTo>
                    <a:pt x="2451100" y="31750"/>
                  </a:lnTo>
                  <a:close/>
                </a:path>
                <a:path w="2743200" h="76200">
                  <a:moveTo>
                    <a:pt x="2540000" y="31750"/>
                  </a:moveTo>
                  <a:lnTo>
                    <a:pt x="2489200" y="31750"/>
                  </a:lnTo>
                  <a:lnTo>
                    <a:pt x="2489200" y="44450"/>
                  </a:lnTo>
                  <a:lnTo>
                    <a:pt x="2540000" y="44450"/>
                  </a:lnTo>
                  <a:lnTo>
                    <a:pt x="2540000" y="31750"/>
                  </a:lnTo>
                  <a:close/>
                </a:path>
                <a:path w="2743200" h="76200">
                  <a:moveTo>
                    <a:pt x="2628900" y="31750"/>
                  </a:moveTo>
                  <a:lnTo>
                    <a:pt x="2578100" y="31750"/>
                  </a:lnTo>
                  <a:lnTo>
                    <a:pt x="2578100" y="44450"/>
                  </a:lnTo>
                  <a:lnTo>
                    <a:pt x="2628900" y="44450"/>
                  </a:lnTo>
                  <a:lnTo>
                    <a:pt x="2628900" y="31750"/>
                  </a:lnTo>
                  <a:close/>
                </a:path>
                <a:path w="2743200" h="76200">
                  <a:moveTo>
                    <a:pt x="2667000" y="0"/>
                  </a:moveTo>
                  <a:lnTo>
                    <a:pt x="2667000" y="76200"/>
                  </a:lnTo>
                  <a:lnTo>
                    <a:pt x="2730500" y="44450"/>
                  </a:lnTo>
                  <a:lnTo>
                    <a:pt x="2679700" y="44450"/>
                  </a:lnTo>
                  <a:lnTo>
                    <a:pt x="2679700" y="31750"/>
                  </a:lnTo>
                  <a:lnTo>
                    <a:pt x="2730500" y="31750"/>
                  </a:lnTo>
                  <a:lnTo>
                    <a:pt x="2667000" y="0"/>
                  </a:lnTo>
                  <a:close/>
                </a:path>
                <a:path w="2743200" h="76200">
                  <a:moveTo>
                    <a:pt x="2730500" y="31750"/>
                  </a:moveTo>
                  <a:lnTo>
                    <a:pt x="2679700" y="31750"/>
                  </a:lnTo>
                  <a:lnTo>
                    <a:pt x="2679700" y="44450"/>
                  </a:lnTo>
                  <a:lnTo>
                    <a:pt x="2730500" y="44450"/>
                  </a:lnTo>
                  <a:lnTo>
                    <a:pt x="2743200" y="38100"/>
                  </a:lnTo>
                  <a:lnTo>
                    <a:pt x="27305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32175" y="5133594"/>
            <a:ext cx="509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create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2600" y="4191000"/>
            <a:ext cx="1447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20040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:Board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57800" y="5181600"/>
            <a:ext cx="15240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910"/>
              </a:spcBef>
            </a:pPr>
            <a:r>
              <a:rPr sz="1800" b="1" spc="-10" dirty="0">
                <a:latin typeface="Times New Roman"/>
                <a:cs typeface="Times New Roman"/>
              </a:rPr>
              <a:t>:Square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3594" y="6199123"/>
            <a:ext cx="4393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Dynamic</a:t>
            </a:r>
            <a:r>
              <a:rPr sz="18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Model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–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illustrates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Creator</a:t>
            </a:r>
            <a:r>
              <a:rPr sz="1800" b="1" spc="-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Pattern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12594" y="3455289"/>
            <a:ext cx="4435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Applying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Creator</a:t>
            </a:r>
            <a:r>
              <a:rPr sz="180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pattern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Static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189" rIns="0" bIns="0" rtlCol="0">
            <a:spAutoFit/>
          </a:bodyPr>
          <a:lstStyle/>
          <a:p>
            <a:pPr marL="2717800">
              <a:lnSpc>
                <a:spcPct val="100000"/>
              </a:lnSpc>
              <a:spcBef>
                <a:spcPts val="95"/>
              </a:spcBef>
            </a:pPr>
            <a:r>
              <a:rPr dirty="0"/>
              <a:t>Information</a:t>
            </a:r>
            <a:r>
              <a:rPr spc="-140" dirty="0"/>
              <a:t> </a:t>
            </a:r>
            <a:r>
              <a:rPr spc="-10" dirty="0"/>
              <a:t>Expert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53"/>
            <a:ext cx="468884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Who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knows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about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object,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given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key?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Information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Expert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pattern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2480161"/>
            <a:ext cx="86423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spc="-10" dirty="0">
                <a:latin typeface="Times New Roman"/>
                <a:cs typeface="Times New Roman"/>
              </a:rPr>
              <a:t>Name: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Times New Roman"/>
                <a:cs typeface="Times New Roman"/>
              </a:rPr>
              <a:t>Problem: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7394" y="2480161"/>
            <a:ext cx="5494020" cy="208280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b="1" dirty="0">
                <a:latin typeface="Times New Roman"/>
                <a:cs typeface="Times New Roman"/>
              </a:rPr>
              <a:t>Information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Expert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What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basic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principle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 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responsibilities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to an </a:t>
            </a:r>
            <a:r>
              <a:rPr sz="1800" spc="-10" dirty="0">
                <a:latin typeface="Times New Roman"/>
                <a:cs typeface="Times New Roman"/>
              </a:rPr>
              <a:t>object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responsibility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10" dirty="0">
                <a:latin typeface="Times New Roman"/>
                <a:cs typeface="Times New Roman"/>
              </a:rPr>
              <a:t>information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needed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</a:t>
            </a:r>
            <a:r>
              <a:rPr sz="1800" spc="-25" dirty="0">
                <a:latin typeface="Times New Roman"/>
                <a:cs typeface="Times New Roman"/>
              </a:rPr>
              <a:t>it.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3851529"/>
            <a:ext cx="86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Solution: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979670"/>
            <a:ext cx="807974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589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player</a:t>
            </a:r>
            <a:r>
              <a:rPr sz="18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Marker</a:t>
            </a:r>
            <a:r>
              <a:rPr sz="180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needs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find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square 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which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move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options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pertaining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 that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square.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Board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aggregates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all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of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Squares,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so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Board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has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Information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needed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fulfill this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responsibility.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9" rIns="0" bIns="0" rtlCol="0">
            <a:spAutoFit/>
          </a:bodyPr>
          <a:lstStyle/>
          <a:p>
            <a:pPr marL="1567815">
              <a:lnSpc>
                <a:spcPct val="100000"/>
              </a:lnSpc>
              <a:spcBef>
                <a:spcPts val="95"/>
              </a:spcBef>
            </a:pPr>
            <a:r>
              <a:rPr dirty="0"/>
              <a:t>Make</a:t>
            </a:r>
            <a:r>
              <a:rPr spc="-90" dirty="0"/>
              <a:t> </a:t>
            </a:r>
            <a:r>
              <a:rPr dirty="0"/>
              <a:t>Board</a:t>
            </a:r>
            <a:r>
              <a:rPr spc="-100" dirty="0"/>
              <a:t> </a:t>
            </a:r>
            <a:r>
              <a:rPr dirty="0"/>
              <a:t>Information</a:t>
            </a:r>
            <a:r>
              <a:rPr spc="-100" dirty="0"/>
              <a:t> </a:t>
            </a:r>
            <a:r>
              <a:rPr spc="-10" dirty="0"/>
              <a:t>Expert</a:t>
            </a:r>
          </a:p>
        </p:txBody>
      </p:sp>
      <p:sp>
        <p:nvSpPr>
          <p:cNvPr id="3" name="object 3"/>
          <p:cNvSpPr/>
          <p:nvPr/>
        </p:nvSpPr>
        <p:spPr>
          <a:xfrm>
            <a:off x="3505200" y="2362200"/>
            <a:ext cx="0" cy="1600200"/>
          </a:xfrm>
          <a:custGeom>
            <a:avLst/>
            <a:gdLst/>
            <a:ahLst/>
            <a:cxnLst/>
            <a:rect l="l" t="t" r="r" b="b"/>
            <a:pathLst>
              <a:path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62800" y="2362200"/>
            <a:ext cx="0" cy="1600200"/>
          </a:xfrm>
          <a:custGeom>
            <a:avLst/>
            <a:gdLst/>
            <a:ahLst/>
            <a:cxnLst/>
            <a:rect l="l" t="t" r="r" b="b"/>
            <a:pathLst>
              <a:path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67000" y="1524000"/>
            <a:ext cx="1600200" cy="838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900"/>
              </a:spcBef>
            </a:pPr>
            <a:r>
              <a:rPr sz="1800" b="1" spc="-10" dirty="0">
                <a:latin typeface="Times New Roman"/>
                <a:cs typeface="Times New Roman"/>
              </a:rPr>
              <a:t>:Board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43600" y="1524000"/>
            <a:ext cx="2286000" cy="838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500"/>
              </a:spcBef>
            </a:pPr>
            <a:r>
              <a:rPr sz="1800" b="1" dirty="0">
                <a:latin typeface="Times New Roman"/>
                <a:cs typeface="Times New Roman"/>
              </a:rPr>
              <a:t>sqs: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Map&lt;Square&gt;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200" y="2857500"/>
            <a:ext cx="2667000" cy="76200"/>
          </a:xfrm>
          <a:custGeom>
            <a:avLst/>
            <a:gdLst/>
            <a:ahLst/>
            <a:cxnLst/>
            <a:rect l="l" t="t" r="r" b="b"/>
            <a:pathLst>
              <a:path w="2667000" h="76200">
                <a:moveTo>
                  <a:pt x="2590800" y="0"/>
                </a:moveTo>
                <a:lnTo>
                  <a:pt x="2590800" y="76200"/>
                </a:lnTo>
                <a:lnTo>
                  <a:pt x="2654300" y="44450"/>
                </a:lnTo>
                <a:lnTo>
                  <a:pt x="2603500" y="44450"/>
                </a:lnTo>
                <a:lnTo>
                  <a:pt x="2603500" y="31750"/>
                </a:lnTo>
                <a:lnTo>
                  <a:pt x="2654300" y="31750"/>
                </a:lnTo>
                <a:lnTo>
                  <a:pt x="2590800" y="0"/>
                </a:lnTo>
                <a:close/>
              </a:path>
              <a:path w="2667000" h="76200">
                <a:moveTo>
                  <a:pt x="2590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90800" y="44450"/>
                </a:lnTo>
                <a:lnTo>
                  <a:pt x="2590800" y="31750"/>
                </a:lnTo>
                <a:close/>
              </a:path>
              <a:path w="2667000" h="76200">
                <a:moveTo>
                  <a:pt x="2654300" y="31750"/>
                </a:moveTo>
                <a:lnTo>
                  <a:pt x="2603500" y="31750"/>
                </a:lnTo>
                <a:lnTo>
                  <a:pt x="2603500" y="44450"/>
                </a:lnTo>
                <a:lnTo>
                  <a:pt x="2654300" y="44450"/>
                </a:lnTo>
                <a:lnTo>
                  <a:pt x="2667000" y="38100"/>
                </a:lnTo>
                <a:lnTo>
                  <a:pt x="2654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05200" y="3543300"/>
            <a:ext cx="3657600" cy="76200"/>
          </a:xfrm>
          <a:custGeom>
            <a:avLst/>
            <a:gdLst/>
            <a:ahLst/>
            <a:cxnLst/>
            <a:rect l="l" t="t" r="r" b="b"/>
            <a:pathLst>
              <a:path w="3657600" h="76200">
                <a:moveTo>
                  <a:pt x="3581400" y="0"/>
                </a:moveTo>
                <a:lnTo>
                  <a:pt x="3581400" y="76200"/>
                </a:lnTo>
                <a:lnTo>
                  <a:pt x="3644900" y="44450"/>
                </a:lnTo>
                <a:lnTo>
                  <a:pt x="3594100" y="44450"/>
                </a:lnTo>
                <a:lnTo>
                  <a:pt x="3594100" y="31750"/>
                </a:lnTo>
                <a:lnTo>
                  <a:pt x="3644900" y="31750"/>
                </a:lnTo>
                <a:lnTo>
                  <a:pt x="3581400" y="0"/>
                </a:lnTo>
                <a:close/>
              </a:path>
              <a:path w="3657600" h="76200">
                <a:moveTo>
                  <a:pt x="3581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81400" y="44450"/>
                </a:lnTo>
                <a:lnTo>
                  <a:pt x="3581400" y="31750"/>
                </a:lnTo>
                <a:close/>
              </a:path>
              <a:path w="3657600" h="76200">
                <a:moveTo>
                  <a:pt x="3644900" y="31750"/>
                </a:moveTo>
                <a:lnTo>
                  <a:pt x="3594100" y="31750"/>
                </a:lnTo>
                <a:lnTo>
                  <a:pt x="3594100" y="44450"/>
                </a:lnTo>
                <a:lnTo>
                  <a:pt x="3644900" y="44450"/>
                </a:lnTo>
                <a:lnTo>
                  <a:pt x="3657600" y="38100"/>
                </a:lnTo>
                <a:lnTo>
                  <a:pt x="3644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444" y="2464434"/>
            <a:ext cx="549656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=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getSquare(name)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Times New Roman"/>
              <a:cs typeface="Times New Roman"/>
            </a:endParaRPr>
          </a:p>
          <a:p>
            <a:pPr marL="3289300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=get (name) :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Square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790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The</a:t>
            </a:r>
            <a:r>
              <a:rPr sz="2400" spc="-25" dirty="0">
                <a:latin typeface="Arial Narrow"/>
                <a:cs typeface="Arial Narrow"/>
              </a:rPr>
              <a:t> </a:t>
            </a:r>
            <a:r>
              <a:rPr sz="2400" dirty="0">
                <a:latin typeface="Arial Narrow"/>
                <a:cs typeface="Arial Narrow"/>
              </a:rPr>
              <a:t>most</a:t>
            </a:r>
            <a:r>
              <a:rPr sz="2400" spc="-20" dirty="0">
                <a:latin typeface="Arial Narrow"/>
                <a:cs typeface="Arial Narrow"/>
              </a:rPr>
              <a:t> </a:t>
            </a:r>
            <a:r>
              <a:rPr sz="2400" dirty="0">
                <a:latin typeface="Arial Narrow"/>
                <a:cs typeface="Arial Narrow"/>
              </a:rPr>
              <a:t>general purpose</a:t>
            </a:r>
            <a:r>
              <a:rPr sz="2400" spc="-5" dirty="0">
                <a:latin typeface="Arial Narrow"/>
                <a:cs typeface="Arial Narrow"/>
              </a:rPr>
              <a:t> </a:t>
            </a:r>
            <a:r>
              <a:rPr sz="2400" dirty="0">
                <a:latin typeface="Arial Narrow"/>
                <a:cs typeface="Arial Narrow"/>
              </a:rPr>
              <a:t>responsibility</a:t>
            </a:r>
            <a:r>
              <a:rPr sz="2400" spc="-20" dirty="0">
                <a:latin typeface="Arial Narrow"/>
                <a:cs typeface="Arial Narrow"/>
              </a:rPr>
              <a:t> </a:t>
            </a:r>
            <a:r>
              <a:rPr sz="2400" dirty="0">
                <a:latin typeface="Arial Narrow"/>
                <a:cs typeface="Arial Narrow"/>
              </a:rPr>
              <a:t>assignment</a:t>
            </a:r>
            <a:r>
              <a:rPr sz="2400" spc="10" dirty="0">
                <a:latin typeface="Arial Narrow"/>
                <a:cs typeface="Arial Narrow"/>
              </a:rPr>
              <a:t> </a:t>
            </a:r>
            <a:r>
              <a:rPr sz="2400" spc="-10" dirty="0">
                <a:latin typeface="Arial Narrow"/>
                <a:cs typeface="Arial Narrow"/>
              </a:rPr>
              <a:t>principle?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015" y="1621358"/>
            <a:ext cx="7393940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105"/>
              </a:spcBef>
            </a:pPr>
            <a:r>
              <a:rPr sz="2000" dirty="0">
                <a:latin typeface="Arial Narrow"/>
                <a:cs typeface="Arial Narrow"/>
              </a:rPr>
              <a:t>Assign</a:t>
            </a:r>
            <a:r>
              <a:rPr sz="2000" spc="-2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a</a:t>
            </a:r>
            <a:r>
              <a:rPr sz="2000" spc="-2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responsibility</a:t>
            </a:r>
            <a:r>
              <a:rPr sz="2000" spc="-10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to</a:t>
            </a:r>
            <a:r>
              <a:rPr sz="2000" spc="-40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the</a:t>
            </a:r>
            <a:r>
              <a:rPr sz="2000" spc="-45" dirty="0">
                <a:latin typeface="Arial Narrow"/>
                <a:cs typeface="Arial Narrow"/>
              </a:rPr>
              <a:t> </a:t>
            </a:r>
            <a:r>
              <a:rPr sz="2000" i="1" dirty="0">
                <a:latin typeface="Arial Narrow"/>
                <a:cs typeface="Arial Narrow"/>
              </a:rPr>
              <a:t>information</a:t>
            </a:r>
            <a:r>
              <a:rPr sz="2000" i="1" spc="-40" dirty="0">
                <a:latin typeface="Arial Narrow"/>
                <a:cs typeface="Arial Narrow"/>
              </a:rPr>
              <a:t> </a:t>
            </a:r>
            <a:r>
              <a:rPr sz="2000" i="1" dirty="0">
                <a:latin typeface="Arial Narrow"/>
                <a:cs typeface="Arial Narrow"/>
              </a:rPr>
              <a:t>expert</a:t>
            </a:r>
            <a:r>
              <a:rPr sz="2000" i="1" spc="-5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—</a:t>
            </a:r>
            <a:r>
              <a:rPr sz="2000" spc="-3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the</a:t>
            </a:r>
            <a:r>
              <a:rPr sz="2000" spc="-3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class</a:t>
            </a:r>
            <a:r>
              <a:rPr sz="2000" spc="-10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with</a:t>
            </a:r>
            <a:r>
              <a:rPr sz="2000" spc="-40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the</a:t>
            </a:r>
            <a:r>
              <a:rPr sz="2000" spc="-45" dirty="0">
                <a:latin typeface="Arial Narrow"/>
                <a:cs typeface="Arial Narrow"/>
              </a:rPr>
              <a:t> </a:t>
            </a:r>
            <a:r>
              <a:rPr sz="2000" spc="-10" dirty="0">
                <a:latin typeface="Arial Narrow"/>
                <a:cs typeface="Arial Narrow"/>
              </a:rPr>
              <a:t>information</a:t>
            </a:r>
            <a:endParaRPr sz="2000" dirty="0">
              <a:latin typeface="Arial Narrow"/>
              <a:cs typeface="Arial Narrow"/>
            </a:endParaRPr>
          </a:p>
          <a:p>
            <a:pPr marL="184785">
              <a:lnSpc>
                <a:spcPts val="2220"/>
              </a:lnSpc>
            </a:pPr>
            <a:r>
              <a:rPr sz="2000" dirty="0">
                <a:latin typeface="Arial Narrow"/>
                <a:cs typeface="Arial Narrow"/>
              </a:rPr>
              <a:t>necessary</a:t>
            </a:r>
            <a:r>
              <a:rPr sz="2000" spc="-1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to</a:t>
            </a:r>
            <a:r>
              <a:rPr sz="2000" spc="-2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fulfill</a:t>
            </a:r>
            <a:r>
              <a:rPr sz="2000" spc="-55" dirty="0">
                <a:latin typeface="Arial Narrow"/>
                <a:cs typeface="Arial Narrow"/>
              </a:rPr>
              <a:t> </a:t>
            </a:r>
            <a:r>
              <a:rPr sz="2000" dirty="0">
                <a:latin typeface="Arial Narrow"/>
                <a:cs typeface="Arial Narrow"/>
              </a:rPr>
              <a:t>the</a:t>
            </a:r>
            <a:r>
              <a:rPr sz="2000" spc="-45" dirty="0">
                <a:latin typeface="Arial Narrow"/>
                <a:cs typeface="Arial Narrow"/>
              </a:rPr>
              <a:t> </a:t>
            </a:r>
            <a:r>
              <a:rPr sz="2000" spc="-10" dirty="0">
                <a:latin typeface="Arial Narrow"/>
                <a:cs typeface="Arial Narrow"/>
              </a:rPr>
              <a:t>responsibility.</a:t>
            </a:r>
            <a:endParaRPr sz="2000" dirty="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72524" y="3779467"/>
            <a:ext cx="0" cy="683260"/>
          </a:xfrm>
          <a:custGeom>
            <a:avLst/>
            <a:gdLst/>
            <a:ahLst/>
            <a:cxnLst/>
            <a:rect l="l" t="t" r="r" b="b"/>
            <a:pathLst>
              <a:path h="683260">
                <a:moveTo>
                  <a:pt x="0" y="683063"/>
                </a:moveTo>
                <a:lnTo>
                  <a:pt x="0" y="0"/>
                </a:lnTo>
              </a:path>
            </a:pathLst>
          </a:custGeom>
          <a:ln w="4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57133" y="4460089"/>
          <a:ext cx="606171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/>
                    <a:p>
                      <a:pPr marL="42037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25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:Library</a:t>
                      </a:r>
                      <a:endParaRPr sz="1250" dirty="0">
                        <a:latin typeface="Arial"/>
                        <a:cs typeface="Arial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1460"/>
                        </a:lnSpc>
                      </a:pPr>
                      <a:r>
                        <a:rPr sz="1250" b="1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125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25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50" b="1" dirty="0">
                          <a:latin typeface="Arial"/>
                          <a:cs typeface="Arial"/>
                        </a:rPr>
                        <a:t>:=</a:t>
                      </a:r>
                      <a:r>
                        <a:rPr sz="1250" b="1" spc="-20" dirty="0">
                          <a:latin typeface="Arial"/>
                          <a:cs typeface="Arial"/>
                        </a:rPr>
                        <a:t> getResource(callNum):</a:t>
                      </a:r>
                      <a:r>
                        <a:rPr sz="1250" b="1" spc="-10" dirty="0">
                          <a:latin typeface="Arial"/>
                          <a:cs typeface="Arial"/>
                        </a:rPr>
                        <a:t> Resource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1250" b="1" spc="-10" dirty="0">
                          <a:latin typeface="Arial"/>
                          <a:cs typeface="Arial"/>
                        </a:rPr>
                        <a:t>:Catalog</a:t>
                      </a:r>
                      <a:endParaRPr sz="1250">
                        <a:latin typeface="Arial"/>
                        <a:cs typeface="Arial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68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68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324172" y="3804255"/>
            <a:ext cx="196342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spc="-20" dirty="0">
                <a:latin typeface="Arial"/>
                <a:cs typeface="Arial"/>
              </a:rPr>
              <a:t>borrowResource(callNum)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97353" y="4752968"/>
            <a:ext cx="623570" cy="0"/>
          </a:xfrm>
          <a:custGeom>
            <a:avLst/>
            <a:gdLst/>
            <a:ahLst/>
            <a:cxnLst/>
            <a:rect l="l" t="t" r="r" b="b"/>
            <a:pathLst>
              <a:path w="623570">
                <a:moveTo>
                  <a:pt x="0" y="0"/>
                </a:moveTo>
                <a:lnTo>
                  <a:pt x="623199" y="0"/>
                </a:lnTo>
              </a:path>
            </a:pathLst>
          </a:custGeom>
          <a:ln w="145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983338" y="4052874"/>
            <a:ext cx="66675" cy="270510"/>
            <a:chOff x="2983338" y="4052874"/>
            <a:chExt cx="66675" cy="270510"/>
          </a:xfrm>
        </p:grpSpPr>
        <p:sp>
          <p:nvSpPr>
            <p:cNvPr id="9" name="object 9"/>
            <p:cNvSpPr/>
            <p:nvPr/>
          </p:nvSpPr>
          <p:spPr>
            <a:xfrm>
              <a:off x="3018960" y="4052874"/>
              <a:ext cx="0" cy="180975"/>
            </a:xfrm>
            <a:custGeom>
              <a:avLst/>
              <a:gdLst/>
              <a:ahLst/>
              <a:cxnLst/>
              <a:rect l="l" t="t" r="r" b="b"/>
              <a:pathLst>
                <a:path h="180975">
                  <a:moveTo>
                    <a:pt x="0" y="0"/>
                  </a:moveTo>
                  <a:lnTo>
                    <a:pt x="0" y="180496"/>
                  </a:lnTo>
                </a:path>
              </a:pathLst>
            </a:custGeom>
            <a:ln w="4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83338" y="4221220"/>
              <a:ext cx="66675" cy="102235"/>
            </a:xfrm>
            <a:custGeom>
              <a:avLst/>
              <a:gdLst/>
              <a:ahLst/>
              <a:cxnLst/>
              <a:rect l="l" t="t" r="r" b="b"/>
              <a:pathLst>
                <a:path w="66675" h="102235">
                  <a:moveTo>
                    <a:pt x="66505" y="0"/>
                  </a:moveTo>
                  <a:lnTo>
                    <a:pt x="0" y="0"/>
                  </a:lnTo>
                  <a:lnTo>
                    <a:pt x="33262" y="102165"/>
                  </a:lnTo>
                  <a:lnTo>
                    <a:pt x="66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222140" y="4791891"/>
            <a:ext cx="264160" cy="68580"/>
            <a:chOff x="4222140" y="4791891"/>
            <a:chExt cx="264160" cy="68580"/>
          </a:xfrm>
        </p:grpSpPr>
        <p:sp>
          <p:nvSpPr>
            <p:cNvPr id="12" name="object 12"/>
            <p:cNvSpPr/>
            <p:nvPr/>
          </p:nvSpPr>
          <p:spPr>
            <a:xfrm>
              <a:off x="4222140" y="4828383"/>
              <a:ext cx="175895" cy="0"/>
            </a:xfrm>
            <a:custGeom>
              <a:avLst/>
              <a:gdLst/>
              <a:ahLst/>
              <a:cxnLst/>
              <a:rect l="l" t="t" r="r" b="b"/>
              <a:pathLst>
                <a:path w="175895">
                  <a:moveTo>
                    <a:pt x="0" y="0"/>
                  </a:moveTo>
                  <a:lnTo>
                    <a:pt x="175733" y="0"/>
                  </a:lnTo>
                </a:path>
              </a:pathLst>
            </a:custGeom>
            <a:ln w="4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85973" y="4791891"/>
              <a:ext cx="100330" cy="68580"/>
            </a:xfrm>
            <a:custGeom>
              <a:avLst/>
              <a:gdLst/>
              <a:ahLst/>
              <a:cxnLst/>
              <a:rect l="l" t="t" r="r" b="b"/>
              <a:pathLst>
                <a:path w="100329" h="68579">
                  <a:moveTo>
                    <a:pt x="0" y="0"/>
                  </a:moveTo>
                  <a:lnTo>
                    <a:pt x="0" y="68103"/>
                  </a:lnTo>
                  <a:lnTo>
                    <a:pt x="100164" y="34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49935" y="2828343"/>
            <a:ext cx="2853690" cy="1097915"/>
          </a:xfrm>
          <a:prstGeom prst="rect">
            <a:avLst/>
          </a:prstGeom>
          <a:ln w="4837">
            <a:solidFill>
              <a:srgbClr val="000000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78105" marR="163830">
              <a:lnSpc>
                <a:spcPct val="102400"/>
              </a:lnSpc>
              <a:spcBef>
                <a:spcPts val="464"/>
              </a:spcBef>
            </a:pPr>
            <a:r>
              <a:rPr sz="1250" b="1" spc="-10" dirty="0">
                <a:latin typeface="Arial"/>
                <a:cs typeface="Arial"/>
              </a:rPr>
              <a:t>Catalog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is</a:t>
            </a:r>
            <a:r>
              <a:rPr sz="1250" b="1" spc="-6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information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expert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spc="-25" dirty="0">
                <a:latin typeface="Arial"/>
                <a:cs typeface="Arial"/>
              </a:rPr>
              <a:t>on </a:t>
            </a:r>
            <a:r>
              <a:rPr sz="1250" b="1" spc="-10" dirty="0">
                <a:latin typeface="Arial"/>
                <a:cs typeface="Arial"/>
              </a:rPr>
              <a:t>finding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and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returning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resource, based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on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</a:t>
            </a:r>
            <a:r>
              <a:rPr sz="1250" b="1" spc="-6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call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number.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It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logically contains</a:t>
            </a:r>
            <a:r>
              <a:rPr sz="1250" b="1" spc="-6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all</a:t>
            </a:r>
            <a:r>
              <a:rPr sz="1250" b="1" spc="-6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of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them.</a:t>
            </a:r>
            <a:endParaRPr sz="1250" dirty="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0794" y="2825923"/>
            <a:ext cx="204731" cy="210143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171446" y="3921064"/>
            <a:ext cx="502284" cy="402590"/>
            <a:chOff x="6171446" y="3921064"/>
            <a:chExt cx="502284" cy="402590"/>
          </a:xfrm>
        </p:grpSpPr>
        <p:sp>
          <p:nvSpPr>
            <p:cNvPr id="17" name="object 17"/>
            <p:cNvSpPr/>
            <p:nvPr/>
          </p:nvSpPr>
          <p:spPr>
            <a:xfrm>
              <a:off x="6173853" y="3923471"/>
              <a:ext cx="423545" cy="327025"/>
            </a:xfrm>
            <a:custGeom>
              <a:avLst/>
              <a:gdLst/>
              <a:ahLst/>
              <a:cxnLst/>
              <a:rect l="l" t="t" r="r" b="b"/>
              <a:pathLst>
                <a:path w="423545" h="327025">
                  <a:moveTo>
                    <a:pt x="0" y="0"/>
                  </a:moveTo>
                  <a:lnTo>
                    <a:pt x="423267" y="326930"/>
                  </a:lnTo>
                </a:path>
              </a:pathLst>
            </a:custGeom>
            <a:ln w="4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7580" y="4235851"/>
              <a:ext cx="85525" cy="8750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02633" y="5194227"/>
            <a:ext cx="1427480" cy="366395"/>
          </a:xfrm>
          <a:prstGeom prst="rect">
            <a:avLst/>
          </a:prstGeom>
          <a:ln w="4843">
            <a:solidFill>
              <a:srgbClr val="000000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535"/>
              </a:spcBef>
            </a:pPr>
            <a:r>
              <a:rPr sz="1250" b="1" dirty="0">
                <a:latin typeface="Arial"/>
                <a:cs typeface="Arial"/>
              </a:rPr>
              <a:t>by</a:t>
            </a:r>
            <a:r>
              <a:rPr sz="1250" b="1" spc="-1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Expert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14212" y="4879485"/>
            <a:ext cx="1246505" cy="521970"/>
            <a:chOff x="4714212" y="4879485"/>
            <a:chExt cx="1246505" cy="52197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7195" y="5191836"/>
              <a:ext cx="204731" cy="2096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90199" y="4943185"/>
              <a:ext cx="323850" cy="248920"/>
            </a:xfrm>
            <a:custGeom>
              <a:avLst/>
              <a:gdLst/>
              <a:ahLst/>
              <a:cxnLst/>
              <a:rect l="l" t="t" r="r" b="b"/>
              <a:pathLst>
                <a:path w="323850" h="248920">
                  <a:moveTo>
                    <a:pt x="323500" y="248600"/>
                  </a:moveTo>
                  <a:lnTo>
                    <a:pt x="0" y="0"/>
                  </a:lnTo>
                </a:path>
              </a:pathLst>
            </a:custGeom>
            <a:ln w="4812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4212" y="4879485"/>
              <a:ext cx="85528" cy="8313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13700" y="5021030"/>
              <a:ext cx="761365" cy="170815"/>
            </a:xfrm>
            <a:custGeom>
              <a:avLst/>
              <a:gdLst/>
              <a:ahLst/>
              <a:cxnLst/>
              <a:rect l="l" t="t" r="r" b="b"/>
              <a:pathLst>
                <a:path w="761364" h="170814">
                  <a:moveTo>
                    <a:pt x="0" y="170755"/>
                  </a:moveTo>
                  <a:lnTo>
                    <a:pt x="761048" y="0"/>
                  </a:lnTo>
                </a:path>
              </a:pathLst>
            </a:custGeom>
            <a:ln w="484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74531" y="4967557"/>
              <a:ext cx="85724" cy="8750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31074" y="2828343"/>
            <a:ext cx="3291204" cy="732155"/>
          </a:xfrm>
          <a:prstGeom prst="rect">
            <a:avLst/>
          </a:prstGeom>
          <a:ln w="4845">
            <a:solidFill>
              <a:srgbClr val="000000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78105" marR="120014">
              <a:lnSpc>
                <a:spcPct val="102400"/>
              </a:lnSpc>
              <a:spcBef>
                <a:spcPts val="464"/>
              </a:spcBef>
            </a:pPr>
            <a:r>
              <a:rPr sz="1250" b="1" dirty="0">
                <a:latin typeface="Arial"/>
                <a:cs typeface="Arial"/>
              </a:rPr>
              <a:t>What</a:t>
            </a:r>
            <a:r>
              <a:rPr sz="1250" b="1" spc="-40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class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should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be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responsible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25" dirty="0">
                <a:latin typeface="Arial"/>
                <a:cs typeface="Arial"/>
              </a:rPr>
              <a:t>for </a:t>
            </a:r>
            <a:r>
              <a:rPr sz="1250" b="1" spc="-20" dirty="0">
                <a:latin typeface="Arial"/>
                <a:cs typeface="Arial"/>
              </a:rPr>
              <a:t>knowing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</a:t>
            </a:r>
            <a:r>
              <a:rPr sz="1250" b="1" spc="-55" dirty="0">
                <a:latin typeface="Arial"/>
                <a:cs typeface="Arial"/>
              </a:rPr>
              <a:t> </a:t>
            </a:r>
            <a:r>
              <a:rPr sz="1250" b="1" spc="-10" dirty="0">
                <a:latin typeface="Arial"/>
                <a:cs typeface="Arial"/>
              </a:rPr>
              <a:t>resource,</a:t>
            </a:r>
            <a:r>
              <a:rPr sz="1250" b="1" spc="-5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given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a</a:t>
            </a:r>
            <a:r>
              <a:rPr sz="1250" b="1" spc="-60" dirty="0">
                <a:latin typeface="Arial"/>
                <a:cs typeface="Arial"/>
              </a:rPr>
              <a:t> </a:t>
            </a:r>
            <a:r>
              <a:rPr sz="1250" b="1" dirty="0">
                <a:latin typeface="Arial"/>
                <a:cs typeface="Arial"/>
              </a:rPr>
              <a:t>call</a:t>
            </a:r>
            <a:r>
              <a:rPr sz="1250" b="1" spc="-45" dirty="0">
                <a:latin typeface="Arial"/>
                <a:cs typeface="Arial"/>
              </a:rPr>
              <a:t> </a:t>
            </a:r>
            <a:r>
              <a:rPr sz="1250" b="1" spc="-20" dirty="0">
                <a:latin typeface="Arial"/>
                <a:cs typeface="Arial"/>
              </a:rPr>
              <a:t>number?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9508" y="2825923"/>
            <a:ext cx="204731" cy="21014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7F1F74-61B1-3999-1DA6-1120F9481E56}"/>
              </a:ext>
            </a:extLst>
          </p:cNvPr>
          <p:cNvSpPr txBox="1"/>
          <p:nvPr/>
        </p:nvSpPr>
        <p:spPr>
          <a:xfrm>
            <a:off x="1143000" y="5947121"/>
            <a:ext cx="77483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13589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70C0"/>
                </a:solidFill>
              </a:rPr>
              <a:t>The </a:t>
            </a:r>
            <a:r>
              <a:rPr lang="en-US" b="1" dirty="0">
                <a:solidFill>
                  <a:srgbClr val="0070C0"/>
                </a:solidFill>
              </a:rPr>
              <a:t>Information Expert</a:t>
            </a:r>
            <a:r>
              <a:rPr lang="en-US" dirty="0">
                <a:solidFill>
                  <a:srgbClr val="0070C0"/>
                </a:solidFill>
              </a:rPr>
              <a:t> principle assigns responsibilities to the class with the necessary information to fulfill them.</a:t>
            </a:r>
            <a:endParaRPr lang="en-US" sz="1800" dirty="0">
              <a:solidFill>
                <a:srgbClr val="0070C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9" rIns="0" bIns="0" rtlCol="0">
            <a:spAutoFit/>
          </a:bodyPr>
          <a:lstStyle/>
          <a:p>
            <a:pPr marL="3093720">
              <a:lnSpc>
                <a:spcPct val="100000"/>
              </a:lnSpc>
              <a:spcBef>
                <a:spcPts val="95"/>
              </a:spcBef>
            </a:pPr>
            <a:r>
              <a:rPr dirty="0"/>
              <a:t>Low</a:t>
            </a:r>
            <a:r>
              <a:rPr spc="-55" dirty="0"/>
              <a:t> </a:t>
            </a:r>
            <a:r>
              <a:rPr spc="-10" dirty="0"/>
              <a:t>Coupling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397253"/>
            <a:ext cx="7383780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One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of</a:t>
            </a:r>
            <a:r>
              <a:rPr sz="18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major</a:t>
            </a:r>
            <a:r>
              <a:rPr sz="18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GRASP</a:t>
            </a:r>
            <a:r>
              <a:rPr sz="1800" b="1" spc="-9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principles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Low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Coupling.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Coupling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is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measure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of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how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strongly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one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is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connected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to,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has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knowledge</a:t>
            </a:r>
            <a:r>
              <a:rPr sz="1800" b="1" spc="-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of,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or</a:t>
            </a:r>
            <a:r>
              <a:rPr sz="1800" b="1" spc="-4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depends</a:t>
            </a:r>
            <a:r>
              <a:rPr sz="180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upon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other</a:t>
            </a:r>
            <a:r>
              <a:rPr sz="1800" b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objects.</a:t>
            </a:r>
            <a:r>
              <a:rPr sz="1800" b="1" spc="34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An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r>
              <a:rPr sz="1800" b="1" spc="-10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</a:t>
            </a:r>
            <a:r>
              <a:rPr sz="1800" b="1" spc="-10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that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calls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on 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the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operations</a:t>
            </a:r>
            <a:r>
              <a:rPr sz="1800" b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of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has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coupling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B’s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services.</a:t>
            </a:r>
            <a:r>
              <a:rPr sz="1800" b="1" spc="38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When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changes,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r>
              <a:rPr sz="1800" b="1" spc="-1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</a:t>
            </a:r>
            <a:r>
              <a:rPr sz="1800" b="1" spc="-10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may</a:t>
            </a:r>
            <a:r>
              <a:rPr sz="180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be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affected.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3852016"/>
            <a:ext cx="866140" cy="1259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sz="1800" spc="-10" dirty="0">
                <a:latin typeface="Times New Roman"/>
                <a:cs typeface="Times New Roman"/>
              </a:rPr>
              <a:t>Name: Problem: Solution: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9794" y="3852016"/>
            <a:ext cx="5152390" cy="167132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b="1" dirty="0">
                <a:latin typeface="Times New Roman"/>
                <a:cs typeface="Times New Roman"/>
              </a:rPr>
              <a:t>Low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Coupling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How to reduce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impact of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change?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responsibilities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 that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(unnecessary)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coupling </a:t>
            </a:r>
            <a:r>
              <a:rPr sz="1800" dirty="0">
                <a:latin typeface="Times New Roman"/>
                <a:cs typeface="Times New Roman"/>
              </a:rPr>
              <a:t>remains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low.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principle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alternatives.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6600" y="1600200"/>
            <a:ext cx="1447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880"/>
              </a:spcBef>
            </a:pPr>
            <a:r>
              <a:rPr sz="2400" b="1" spc="-10" dirty="0">
                <a:latin typeface="Times New Roman"/>
                <a:cs typeface="Times New Roman"/>
              </a:rPr>
              <a:t>:Sale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4400" y="1066800"/>
            <a:ext cx="13716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875"/>
              </a:spcBef>
            </a:pPr>
            <a:r>
              <a:rPr sz="2400" b="1" spc="-10" dirty="0">
                <a:latin typeface="Times New Roman"/>
                <a:cs typeface="Times New Roman"/>
              </a:rPr>
              <a:t>:Payment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62200" y="1524000"/>
            <a:ext cx="1524000" cy="685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875"/>
              </a:spcBef>
            </a:pPr>
            <a:r>
              <a:rPr sz="2400" b="1" spc="-10" dirty="0">
                <a:latin typeface="Times New Roman"/>
                <a:cs typeface="Times New Roman"/>
              </a:rPr>
              <a:t>:Register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89375" y="1089405"/>
            <a:ext cx="81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create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4575175" y="2080386"/>
            <a:ext cx="1670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addPayment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66800" y="1866900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0"/>
                </a:moveTo>
                <a:lnTo>
                  <a:pt x="1219200" y="76200"/>
                </a:lnTo>
                <a:lnTo>
                  <a:pt x="1282700" y="44450"/>
                </a:lnTo>
                <a:lnTo>
                  <a:pt x="1231900" y="44450"/>
                </a:lnTo>
                <a:lnTo>
                  <a:pt x="1231900" y="31750"/>
                </a:lnTo>
                <a:lnTo>
                  <a:pt x="1282700" y="31750"/>
                </a:lnTo>
                <a:lnTo>
                  <a:pt x="1219200" y="0"/>
                </a:lnTo>
                <a:close/>
              </a:path>
              <a:path w="1295400" h="76200">
                <a:moveTo>
                  <a:pt x="1219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  <a:path w="1295400" h="76200">
                <a:moveTo>
                  <a:pt x="1282700" y="31750"/>
                </a:moveTo>
                <a:lnTo>
                  <a:pt x="1231900" y="31750"/>
                </a:lnTo>
                <a:lnTo>
                  <a:pt x="1231900" y="44450"/>
                </a:lnTo>
                <a:lnTo>
                  <a:pt x="1282700" y="44450"/>
                </a:lnTo>
                <a:lnTo>
                  <a:pt x="1295400" y="38100"/>
                </a:lnTo>
                <a:lnTo>
                  <a:pt x="1282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2140" y="1241805"/>
            <a:ext cx="188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makePayment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6200" y="1638300"/>
            <a:ext cx="838200" cy="76200"/>
          </a:xfrm>
          <a:custGeom>
            <a:avLst/>
            <a:gdLst/>
            <a:ahLst/>
            <a:cxnLst/>
            <a:rect l="l" t="t" r="r" b="b"/>
            <a:pathLst>
              <a:path w="838200" h="76200">
                <a:moveTo>
                  <a:pt x="762000" y="0"/>
                </a:moveTo>
                <a:lnTo>
                  <a:pt x="762000" y="76200"/>
                </a:lnTo>
                <a:lnTo>
                  <a:pt x="825500" y="44450"/>
                </a:lnTo>
                <a:lnTo>
                  <a:pt x="774700" y="44450"/>
                </a:lnTo>
                <a:lnTo>
                  <a:pt x="774700" y="31750"/>
                </a:lnTo>
                <a:lnTo>
                  <a:pt x="825500" y="31750"/>
                </a:lnTo>
                <a:lnTo>
                  <a:pt x="762000" y="0"/>
                </a:lnTo>
                <a:close/>
              </a:path>
              <a:path w="838200" h="76200">
                <a:moveTo>
                  <a:pt x="762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762000" y="44450"/>
                </a:lnTo>
                <a:lnTo>
                  <a:pt x="762000" y="31750"/>
                </a:lnTo>
                <a:close/>
              </a:path>
              <a:path w="838200" h="76200">
                <a:moveTo>
                  <a:pt x="825500" y="31750"/>
                </a:moveTo>
                <a:lnTo>
                  <a:pt x="774700" y="31750"/>
                </a:lnTo>
                <a:lnTo>
                  <a:pt x="774700" y="44450"/>
                </a:lnTo>
                <a:lnTo>
                  <a:pt x="825500" y="44450"/>
                </a:lnTo>
                <a:lnTo>
                  <a:pt x="838200" y="38100"/>
                </a:lnTo>
                <a:lnTo>
                  <a:pt x="825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6200" y="2019300"/>
            <a:ext cx="3200400" cy="76200"/>
          </a:xfrm>
          <a:custGeom>
            <a:avLst/>
            <a:gdLst/>
            <a:ahLst/>
            <a:cxnLst/>
            <a:rect l="l" t="t" r="r" b="b"/>
            <a:pathLst>
              <a:path w="3200400" h="76200">
                <a:moveTo>
                  <a:pt x="3124200" y="0"/>
                </a:moveTo>
                <a:lnTo>
                  <a:pt x="3124200" y="76200"/>
                </a:lnTo>
                <a:lnTo>
                  <a:pt x="3187700" y="44450"/>
                </a:lnTo>
                <a:lnTo>
                  <a:pt x="3136900" y="44450"/>
                </a:lnTo>
                <a:lnTo>
                  <a:pt x="3136900" y="31750"/>
                </a:lnTo>
                <a:lnTo>
                  <a:pt x="3187700" y="31750"/>
                </a:lnTo>
                <a:lnTo>
                  <a:pt x="3124200" y="0"/>
                </a:lnTo>
                <a:close/>
              </a:path>
              <a:path w="3200400" h="76200">
                <a:moveTo>
                  <a:pt x="3124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124200" y="44450"/>
                </a:lnTo>
                <a:lnTo>
                  <a:pt x="3124200" y="31750"/>
                </a:lnTo>
                <a:close/>
              </a:path>
              <a:path w="3200400" h="76200">
                <a:moveTo>
                  <a:pt x="3187700" y="31750"/>
                </a:moveTo>
                <a:lnTo>
                  <a:pt x="3136900" y="31750"/>
                </a:lnTo>
                <a:lnTo>
                  <a:pt x="3136900" y="44450"/>
                </a:lnTo>
                <a:lnTo>
                  <a:pt x="3187700" y="44450"/>
                </a:lnTo>
                <a:lnTo>
                  <a:pt x="3200400" y="38100"/>
                </a:lnTo>
                <a:lnTo>
                  <a:pt x="3187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34200" y="4267200"/>
            <a:ext cx="19050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396875">
              <a:lnSpc>
                <a:spcPct val="100000"/>
              </a:lnSpc>
              <a:spcBef>
                <a:spcPts val="885"/>
              </a:spcBef>
            </a:pPr>
            <a:r>
              <a:rPr sz="2400" b="1" spc="-10" dirty="0">
                <a:latin typeface="Times New Roman"/>
                <a:cs typeface="Times New Roman"/>
              </a:rPr>
              <a:t>:Payment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2000" y="3733800"/>
            <a:ext cx="1371600" cy="762000"/>
          </a:xfrm>
          <a:custGeom>
            <a:avLst/>
            <a:gdLst/>
            <a:ahLst/>
            <a:cxnLst/>
            <a:rect l="l" t="t" r="r" b="b"/>
            <a:pathLst>
              <a:path w="1371600" h="762000">
                <a:moveTo>
                  <a:pt x="0" y="762000"/>
                </a:moveTo>
                <a:lnTo>
                  <a:pt x="1371600" y="762000"/>
                </a:lnTo>
                <a:lnTo>
                  <a:pt x="1371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09800" y="4191000"/>
            <a:ext cx="1524000" cy="685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880"/>
              </a:spcBef>
            </a:pPr>
            <a:r>
              <a:rPr sz="2400" b="1" spc="-10" dirty="0">
                <a:latin typeface="Times New Roman"/>
                <a:cs typeface="Times New Roman"/>
              </a:rPr>
              <a:t>:Register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97175" y="3680841"/>
            <a:ext cx="2778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95500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makePayment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3600" b="1" spc="-15" baseline="-27777" dirty="0">
                <a:latin typeface="Times New Roman"/>
                <a:cs typeface="Times New Roman"/>
              </a:rPr>
              <a:t>:Sale</a:t>
            </a:r>
            <a:endParaRPr sz="3600" baseline="-2777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9428" y="4595621"/>
            <a:ext cx="81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create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4533900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0"/>
                </a:moveTo>
                <a:lnTo>
                  <a:pt x="1219200" y="76200"/>
                </a:lnTo>
                <a:lnTo>
                  <a:pt x="1282700" y="44450"/>
                </a:lnTo>
                <a:lnTo>
                  <a:pt x="1231900" y="44450"/>
                </a:lnTo>
                <a:lnTo>
                  <a:pt x="1231900" y="31750"/>
                </a:lnTo>
                <a:lnTo>
                  <a:pt x="1282700" y="31750"/>
                </a:lnTo>
                <a:lnTo>
                  <a:pt x="1219200" y="0"/>
                </a:lnTo>
                <a:close/>
              </a:path>
              <a:path w="1295400" h="76200">
                <a:moveTo>
                  <a:pt x="1219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  <a:path w="1295400" h="76200">
                <a:moveTo>
                  <a:pt x="1282700" y="31750"/>
                </a:moveTo>
                <a:lnTo>
                  <a:pt x="1231900" y="31750"/>
                </a:lnTo>
                <a:lnTo>
                  <a:pt x="1231900" y="44450"/>
                </a:lnTo>
                <a:lnTo>
                  <a:pt x="1282700" y="44450"/>
                </a:lnTo>
                <a:lnTo>
                  <a:pt x="1295400" y="38100"/>
                </a:lnTo>
                <a:lnTo>
                  <a:pt x="1282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59740" y="3909441"/>
            <a:ext cx="188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makePayment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33800" y="4109338"/>
            <a:ext cx="3200400" cy="615315"/>
          </a:xfrm>
          <a:custGeom>
            <a:avLst/>
            <a:gdLst/>
            <a:ahLst/>
            <a:cxnLst/>
            <a:rect l="l" t="t" r="r" b="b"/>
            <a:pathLst>
              <a:path w="3200400" h="615314">
                <a:moveTo>
                  <a:pt x="838200" y="234061"/>
                </a:moveTo>
                <a:lnTo>
                  <a:pt x="825500" y="227711"/>
                </a:lnTo>
                <a:lnTo>
                  <a:pt x="762000" y="195961"/>
                </a:lnTo>
                <a:lnTo>
                  <a:pt x="762000" y="227711"/>
                </a:lnTo>
                <a:lnTo>
                  <a:pt x="0" y="227711"/>
                </a:lnTo>
                <a:lnTo>
                  <a:pt x="0" y="240411"/>
                </a:lnTo>
                <a:lnTo>
                  <a:pt x="762000" y="240411"/>
                </a:lnTo>
                <a:lnTo>
                  <a:pt x="762000" y="272161"/>
                </a:lnTo>
                <a:lnTo>
                  <a:pt x="825500" y="240411"/>
                </a:lnTo>
                <a:lnTo>
                  <a:pt x="838200" y="234061"/>
                </a:lnTo>
                <a:close/>
              </a:path>
              <a:path w="3200400" h="615314">
                <a:moveTo>
                  <a:pt x="3200400" y="615061"/>
                </a:moveTo>
                <a:lnTo>
                  <a:pt x="3183115" y="587248"/>
                </a:lnTo>
                <a:lnTo>
                  <a:pt x="3155442" y="542671"/>
                </a:lnTo>
                <a:lnTo>
                  <a:pt x="3138830" y="569709"/>
                </a:lnTo>
                <a:lnTo>
                  <a:pt x="2213102" y="0"/>
                </a:lnTo>
                <a:lnTo>
                  <a:pt x="2206498" y="10922"/>
                </a:lnTo>
                <a:lnTo>
                  <a:pt x="3132150" y="580580"/>
                </a:lnTo>
                <a:lnTo>
                  <a:pt x="3115564" y="607568"/>
                </a:lnTo>
                <a:lnTo>
                  <a:pt x="3200400" y="6150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2140" y="5675172"/>
            <a:ext cx="7637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Low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coupling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suggests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Sale</a:t>
            </a:r>
            <a:r>
              <a:rPr sz="1800" b="1" i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because </a:t>
            </a:r>
            <a:r>
              <a:rPr sz="1800" b="1" i="1" dirty="0">
                <a:latin typeface="Times New Roman"/>
                <a:cs typeface="Times New Roman"/>
              </a:rPr>
              <a:t>Sale</a:t>
            </a:r>
            <a:r>
              <a:rPr sz="1800" b="1" i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has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 coupled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i="1" dirty="0">
                <a:latin typeface="Times New Roman"/>
                <a:cs typeface="Times New Roman"/>
              </a:rPr>
              <a:t>Payment</a:t>
            </a:r>
            <a:r>
              <a:rPr sz="1800" b="1" i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anyway </a:t>
            </a:r>
            <a:r>
              <a:rPr sz="1800" b="1" dirty="0">
                <a:latin typeface="Times New Roman"/>
                <a:cs typeface="Times New Roman"/>
              </a:rPr>
              <a:t>(</a:t>
            </a:r>
            <a:r>
              <a:rPr sz="1800" b="1" i="1" dirty="0">
                <a:latin typeface="Times New Roman"/>
                <a:cs typeface="Times New Roman"/>
              </a:rPr>
              <a:t>Sale</a:t>
            </a:r>
            <a:r>
              <a:rPr sz="1800" b="1" i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knows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its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i="1" spc="-10" dirty="0">
                <a:latin typeface="Times New Roman"/>
                <a:cs typeface="Times New Roman"/>
              </a:rPr>
              <a:t>total</a:t>
            </a:r>
            <a:r>
              <a:rPr sz="1800" b="1" spc="-1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189" rIns="0" bIns="0" rtlCol="0">
            <a:spAutoFit/>
          </a:bodyPr>
          <a:lstStyle/>
          <a:p>
            <a:pPr marL="3206750">
              <a:lnSpc>
                <a:spcPct val="100000"/>
              </a:lnSpc>
              <a:spcBef>
                <a:spcPts val="95"/>
              </a:spcBef>
            </a:pPr>
            <a:r>
              <a:rPr dirty="0"/>
              <a:t>High</a:t>
            </a:r>
            <a:r>
              <a:rPr spc="-55" dirty="0"/>
              <a:t> </a:t>
            </a:r>
            <a:r>
              <a:rPr spc="-10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1777"/>
            <a:ext cx="7855584" cy="272351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High</a:t>
            </a:r>
            <a:r>
              <a:rPr sz="2000" b="1" spc="-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Cohesion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20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an</a:t>
            </a:r>
            <a:r>
              <a:rPr sz="20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underlying</a:t>
            </a:r>
            <a:r>
              <a:rPr sz="20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33CC"/>
                </a:solidFill>
                <a:latin typeface="Times New Roman"/>
                <a:cs typeface="Times New Roman"/>
              </a:rPr>
              <a:t>Design</a:t>
            </a:r>
            <a:r>
              <a:rPr sz="20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Objective</a:t>
            </a:r>
            <a:endParaRPr sz="2000" dirty="0">
              <a:latin typeface="Times New Roman"/>
              <a:cs typeface="Times New Roman"/>
            </a:endParaRPr>
          </a:p>
          <a:p>
            <a:pPr marL="241300" marR="5080">
              <a:lnSpc>
                <a:spcPct val="100000"/>
              </a:lnSpc>
              <a:spcBef>
                <a:spcPts val="735"/>
              </a:spcBef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degree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</a:t>
            </a:r>
            <a:r>
              <a:rPr sz="180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which</a:t>
            </a:r>
            <a:r>
              <a:rPr sz="1800" b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all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elements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of a component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are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directed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towards</a:t>
            </a:r>
            <a:r>
              <a:rPr sz="1800" b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</a:t>
            </a:r>
            <a:r>
              <a:rPr sz="180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single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task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and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all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elements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directed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towards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that task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are contained in</a:t>
            </a:r>
            <a:r>
              <a:rPr sz="1800" b="1" spc="-1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a</a:t>
            </a:r>
            <a:r>
              <a:rPr sz="1800" b="1" spc="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single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component.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Internal glue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with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which</a:t>
            </a:r>
            <a:r>
              <a:rPr sz="1800" b="1" spc="4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component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is</a:t>
            </a:r>
            <a:r>
              <a:rPr sz="1800" b="1" spc="-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constructed.</a:t>
            </a:r>
            <a:endParaRPr sz="18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Low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Cohesion: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solely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responsible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many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things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very</a:t>
            </a:r>
            <a:r>
              <a:rPr sz="1800" spc="-10" dirty="0">
                <a:latin typeface="Times New Roman"/>
                <a:cs typeface="Times New Roman"/>
              </a:rPr>
              <a:t> different</a:t>
            </a:r>
            <a:endParaRPr sz="18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functional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areas</a:t>
            </a:r>
            <a:endParaRPr sz="1800" dirty="0">
              <a:latin typeface="Times New Roman"/>
              <a:cs typeface="Times New Roman"/>
            </a:endParaRPr>
          </a:p>
          <a:p>
            <a:pPr marL="241300" marR="2540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High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Cohesion.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 has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moderate responsibilities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 one functional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area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collaborates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classes to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fulfill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tasks.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079321"/>
            <a:ext cx="864869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spc="-10" dirty="0">
                <a:latin typeface="Times New Roman"/>
                <a:cs typeface="Times New Roman"/>
              </a:rPr>
              <a:t>Name: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Times New Roman"/>
                <a:cs typeface="Times New Roman"/>
              </a:rPr>
              <a:t>Problem: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4079321"/>
            <a:ext cx="5815965" cy="194691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latin typeface="Times New Roman"/>
                <a:cs typeface="Times New Roman"/>
              </a:rPr>
              <a:t>High</a:t>
            </a:r>
            <a:r>
              <a:rPr sz="1800" b="1" spc="-10" dirty="0">
                <a:latin typeface="Times New Roman"/>
                <a:cs typeface="Times New Roman"/>
              </a:rPr>
              <a:t> Cohesion</a:t>
            </a:r>
            <a:endParaRPr sz="1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How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 keep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focused,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understandable,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</a:t>
            </a:r>
            <a:r>
              <a:rPr sz="1800" spc="-10" dirty="0">
                <a:latin typeface="Times New Roman"/>
                <a:cs typeface="Times New Roman"/>
              </a:rPr>
              <a:t>manageable, </a:t>
            </a:r>
            <a:r>
              <a:rPr sz="1800" dirty="0">
                <a:latin typeface="Times New Roman"/>
                <a:cs typeface="Times New Roman"/>
              </a:rPr>
              <a:t>and,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side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effect,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support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Low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Coupling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/>
                <a:cs typeface="Times New Roman"/>
              </a:rPr>
              <a:t>Assign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responsibilities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cohesion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remains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high.</a:t>
            </a:r>
            <a:r>
              <a:rPr sz="1800" spc="4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this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800" dirty="0">
                <a:latin typeface="Times New Roman"/>
                <a:cs typeface="Times New Roman"/>
              </a:rPr>
              <a:t>criteria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evaluate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alternatives.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314950"/>
            <a:ext cx="866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Solution: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9" rIns="0" bIns="0" rtlCol="0">
            <a:spAutoFit/>
          </a:bodyPr>
          <a:lstStyle/>
          <a:p>
            <a:pPr marL="1913889">
              <a:lnSpc>
                <a:spcPct val="100000"/>
              </a:lnSpc>
              <a:spcBef>
                <a:spcPts val="95"/>
              </a:spcBef>
            </a:pPr>
            <a:r>
              <a:rPr dirty="0"/>
              <a:t>Contrasting</a:t>
            </a:r>
            <a:r>
              <a:rPr spc="-75" dirty="0"/>
              <a:t> </a:t>
            </a:r>
            <a:r>
              <a:rPr dirty="0"/>
              <a:t>Levels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Cohesion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600200"/>
            <a:ext cx="2057400" cy="6858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505"/>
              </a:spcBef>
            </a:pPr>
            <a:r>
              <a:rPr sz="1800" b="1" spc="-10" dirty="0">
                <a:latin typeface="Times New Roman"/>
                <a:cs typeface="Times New Roman"/>
              </a:rPr>
              <a:t>:MonopolyGame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286000"/>
            <a:ext cx="2062480" cy="2667000"/>
            <a:chOff x="533400" y="2286000"/>
            <a:chExt cx="2062480" cy="2667000"/>
          </a:xfrm>
        </p:grpSpPr>
        <p:sp>
          <p:nvSpPr>
            <p:cNvPr id="5" name="object 5"/>
            <p:cNvSpPr/>
            <p:nvPr/>
          </p:nvSpPr>
          <p:spPr>
            <a:xfrm>
              <a:off x="2057400" y="2286000"/>
              <a:ext cx="0" cy="2667000"/>
            </a:xfrm>
            <a:custGeom>
              <a:avLst/>
              <a:gdLst/>
              <a:ahLst/>
              <a:cxnLst/>
              <a:rect l="l" t="t" r="r" b="b"/>
              <a:pathLst>
                <a:path h="2667000">
                  <a:moveTo>
                    <a:pt x="0" y="2514600"/>
                  </a:moveTo>
                  <a:lnTo>
                    <a:pt x="0" y="2667000"/>
                  </a:lnTo>
                </a:path>
                <a:path h="26670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81200" y="2590800"/>
              <a:ext cx="152400" cy="2209800"/>
            </a:xfrm>
            <a:custGeom>
              <a:avLst/>
              <a:gdLst/>
              <a:ahLst/>
              <a:cxnLst/>
              <a:rect l="l" t="t" r="r" b="b"/>
              <a:pathLst>
                <a:path w="152400" h="2209800">
                  <a:moveTo>
                    <a:pt x="0" y="2209800"/>
                  </a:moveTo>
                  <a:lnTo>
                    <a:pt x="152400" y="22098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2209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400" y="2705100"/>
              <a:ext cx="1447800" cy="76200"/>
            </a:xfrm>
            <a:custGeom>
              <a:avLst/>
              <a:gdLst/>
              <a:ahLst/>
              <a:cxnLst/>
              <a:rect l="l" t="t" r="r" b="b"/>
              <a:pathLst>
                <a:path w="1447800" h="76200">
                  <a:moveTo>
                    <a:pt x="1371600" y="0"/>
                  </a:moveTo>
                  <a:lnTo>
                    <a:pt x="1371600" y="76200"/>
                  </a:lnTo>
                  <a:lnTo>
                    <a:pt x="1435100" y="44450"/>
                  </a:lnTo>
                  <a:lnTo>
                    <a:pt x="1384300" y="44450"/>
                  </a:lnTo>
                  <a:lnTo>
                    <a:pt x="1384300" y="31750"/>
                  </a:lnTo>
                  <a:lnTo>
                    <a:pt x="1435100" y="31750"/>
                  </a:lnTo>
                  <a:lnTo>
                    <a:pt x="1371600" y="0"/>
                  </a:lnTo>
                  <a:close/>
                </a:path>
                <a:path w="1447800" h="76200">
                  <a:moveTo>
                    <a:pt x="137160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371600" y="44450"/>
                  </a:lnTo>
                  <a:lnTo>
                    <a:pt x="1371600" y="31750"/>
                  </a:lnTo>
                  <a:close/>
                </a:path>
                <a:path w="1447800" h="76200">
                  <a:moveTo>
                    <a:pt x="1435100" y="31750"/>
                  </a:moveTo>
                  <a:lnTo>
                    <a:pt x="1384300" y="31750"/>
                  </a:lnTo>
                  <a:lnTo>
                    <a:pt x="1384300" y="44450"/>
                  </a:lnTo>
                  <a:lnTo>
                    <a:pt x="1435100" y="44450"/>
                  </a:lnTo>
                  <a:lnTo>
                    <a:pt x="1447800" y="38100"/>
                  </a:lnTo>
                  <a:lnTo>
                    <a:pt x="14351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57400" y="30480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57400" y="30480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152400" y="3048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3600" y="289560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0"/>
                  </a:moveTo>
                  <a:lnTo>
                    <a:pt x="457200" y="0"/>
                  </a:lnTo>
                </a:path>
                <a:path w="457200" h="304800">
                  <a:moveTo>
                    <a:pt x="457200" y="0"/>
                  </a:moveTo>
                  <a:lnTo>
                    <a:pt x="45720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09800" y="31623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810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81000" h="76200">
                  <a:moveTo>
                    <a:pt x="38100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81000" y="44450"/>
                  </a:lnTo>
                  <a:lnTo>
                    <a:pt x="3810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57400" y="37338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57400" y="37338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152400" y="3048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33600" y="3581400"/>
              <a:ext cx="457200" cy="304800"/>
            </a:xfrm>
            <a:custGeom>
              <a:avLst/>
              <a:gdLst/>
              <a:ahLst/>
              <a:cxnLst/>
              <a:rect l="l" t="t" r="r" b="b"/>
              <a:pathLst>
                <a:path w="457200" h="304800">
                  <a:moveTo>
                    <a:pt x="0" y="0"/>
                  </a:moveTo>
                  <a:lnTo>
                    <a:pt x="457200" y="0"/>
                  </a:lnTo>
                </a:path>
                <a:path w="457200" h="304800">
                  <a:moveTo>
                    <a:pt x="457200" y="0"/>
                  </a:moveTo>
                  <a:lnTo>
                    <a:pt x="45720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09800" y="38481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810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81000" h="76200">
                  <a:moveTo>
                    <a:pt x="38100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81000" y="44450"/>
                  </a:lnTo>
                  <a:lnTo>
                    <a:pt x="3810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57400" y="44196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1524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52400" y="3048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57400" y="4419600"/>
              <a:ext cx="152400" cy="304800"/>
            </a:xfrm>
            <a:custGeom>
              <a:avLst/>
              <a:gdLst/>
              <a:ahLst/>
              <a:cxnLst/>
              <a:rect l="l" t="t" r="r" b="b"/>
              <a:pathLst>
                <a:path w="152400" h="304800">
                  <a:moveTo>
                    <a:pt x="0" y="304800"/>
                  </a:moveTo>
                  <a:lnTo>
                    <a:pt x="152400" y="304800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33600" y="396240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0" y="0"/>
                  </a:moveTo>
                  <a:lnTo>
                    <a:pt x="457200" y="0"/>
                  </a:lnTo>
                </a:path>
                <a:path w="457200" h="609600">
                  <a:moveTo>
                    <a:pt x="457200" y="0"/>
                  </a:moveTo>
                  <a:lnTo>
                    <a:pt x="4572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09800" y="45339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381000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381000" h="76200">
                  <a:moveTo>
                    <a:pt x="381000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381000" y="44450"/>
                  </a:lnTo>
                  <a:lnTo>
                    <a:pt x="38100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2140" y="2389758"/>
            <a:ext cx="807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playGame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69794" y="2923158"/>
            <a:ext cx="3435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69794" y="3609213"/>
            <a:ext cx="3340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69794" y="4142613"/>
            <a:ext cx="343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91000" y="1600200"/>
            <a:ext cx="19050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0"/>
              </a:spcBef>
            </a:pPr>
            <a:r>
              <a:rPr sz="1800" b="1" spc="-10" dirty="0">
                <a:latin typeface="Times New Roman"/>
                <a:cs typeface="Times New Roman"/>
              </a:rPr>
              <a:t>:MonopolyGame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05400" y="2209800"/>
            <a:ext cx="0" cy="2514600"/>
          </a:xfrm>
          <a:custGeom>
            <a:avLst/>
            <a:gdLst/>
            <a:ahLst/>
            <a:cxnLst/>
            <a:rect l="l" t="t" r="r" b="b"/>
            <a:pathLst>
              <a:path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477000" y="1600200"/>
            <a:ext cx="609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0"/>
              </a:spcBef>
            </a:pPr>
            <a:r>
              <a:rPr sz="1800" b="1" spc="-25" dirty="0">
                <a:latin typeface="Times New Roman"/>
                <a:cs typeface="Times New Roman"/>
              </a:rPr>
              <a:t>:??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81800" y="20574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91400" y="1600200"/>
            <a:ext cx="5334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0"/>
              </a:spcBef>
            </a:pPr>
            <a:r>
              <a:rPr sz="1800" b="1" spc="-25" dirty="0">
                <a:latin typeface="Times New Roman"/>
                <a:cs typeface="Times New Roman"/>
              </a:rPr>
              <a:t>:??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96200" y="20574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305800" y="1600200"/>
            <a:ext cx="609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0"/>
              </a:spcBef>
            </a:pPr>
            <a:r>
              <a:rPr sz="1800" b="1" spc="-25" dirty="0">
                <a:latin typeface="Times New Roman"/>
                <a:cs typeface="Times New Roman"/>
              </a:rPr>
              <a:t>:??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610600" y="20574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962400" y="2781300"/>
            <a:ext cx="1143000" cy="76200"/>
          </a:xfrm>
          <a:custGeom>
            <a:avLst/>
            <a:gdLst/>
            <a:ahLst/>
            <a:cxnLst/>
            <a:rect l="l" t="t" r="r" b="b"/>
            <a:pathLst>
              <a:path w="1143000" h="76200">
                <a:moveTo>
                  <a:pt x="1066800" y="0"/>
                </a:moveTo>
                <a:lnTo>
                  <a:pt x="1066800" y="76200"/>
                </a:lnTo>
                <a:lnTo>
                  <a:pt x="1130300" y="44450"/>
                </a:lnTo>
                <a:lnTo>
                  <a:pt x="1079500" y="44450"/>
                </a:lnTo>
                <a:lnTo>
                  <a:pt x="1079500" y="31750"/>
                </a:lnTo>
                <a:lnTo>
                  <a:pt x="1130300" y="31750"/>
                </a:lnTo>
                <a:lnTo>
                  <a:pt x="1066800" y="0"/>
                </a:lnTo>
                <a:close/>
              </a:path>
              <a:path w="1143000" h="76200">
                <a:moveTo>
                  <a:pt x="1066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066800" y="44450"/>
                </a:lnTo>
                <a:lnTo>
                  <a:pt x="1066800" y="31750"/>
                </a:lnTo>
                <a:close/>
              </a:path>
              <a:path w="1143000" h="76200">
                <a:moveTo>
                  <a:pt x="1130300" y="31750"/>
                </a:moveTo>
                <a:lnTo>
                  <a:pt x="1079500" y="31750"/>
                </a:lnTo>
                <a:lnTo>
                  <a:pt x="1079500" y="44450"/>
                </a:lnTo>
                <a:lnTo>
                  <a:pt x="1130300" y="44450"/>
                </a:lnTo>
                <a:lnTo>
                  <a:pt x="1143000" y="38100"/>
                </a:lnTo>
                <a:lnTo>
                  <a:pt x="1130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965575" y="2465958"/>
            <a:ext cx="8070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playGame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105400" y="3238500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1600200" y="0"/>
                </a:moveTo>
                <a:lnTo>
                  <a:pt x="1600200" y="76200"/>
                </a:lnTo>
                <a:lnTo>
                  <a:pt x="1663700" y="44450"/>
                </a:lnTo>
                <a:lnTo>
                  <a:pt x="1612900" y="44450"/>
                </a:lnTo>
                <a:lnTo>
                  <a:pt x="1612900" y="31750"/>
                </a:lnTo>
                <a:lnTo>
                  <a:pt x="1663700" y="31750"/>
                </a:lnTo>
                <a:lnTo>
                  <a:pt x="1600200" y="0"/>
                </a:lnTo>
                <a:close/>
              </a:path>
              <a:path w="1676400" h="76200">
                <a:moveTo>
                  <a:pt x="1600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00200" y="44450"/>
                </a:lnTo>
                <a:lnTo>
                  <a:pt x="1600200" y="31750"/>
                </a:lnTo>
                <a:close/>
              </a:path>
              <a:path w="1676400" h="76200">
                <a:moveTo>
                  <a:pt x="1663700" y="31750"/>
                </a:moveTo>
                <a:lnTo>
                  <a:pt x="1612900" y="31750"/>
                </a:lnTo>
                <a:lnTo>
                  <a:pt x="1612900" y="44450"/>
                </a:lnTo>
                <a:lnTo>
                  <a:pt x="1663700" y="44450"/>
                </a:lnTo>
                <a:lnTo>
                  <a:pt x="1676400" y="38100"/>
                </a:lnTo>
                <a:lnTo>
                  <a:pt x="1663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5642228" y="2923158"/>
            <a:ext cx="3435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105400" y="3695700"/>
            <a:ext cx="2590800" cy="76200"/>
          </a:xfrm>
          <a:custGeom>
            <a:avLst/>
            <a:gdLst/>
            <a:ahLst/>
            <a:cxnLst/>
            <a:rect l="l" t="t" r="r" b="b"/>
            <a:pathLst>
              <a:path w="2590800" h="76200">
                <a:moveTo>
                  <a:pt x="2514600" y="0"/>
                </a:moveTo>
                <a:lnTo>
                  <a:pt x="2514600" y="76200"/>
                </a:lnTo>
                <a:lnTo>
                  <a:pt x="2578100" y="44450"/>
                </a:lnTo>
                <a:lnTo>
                  <a:pt x="2527300" y="44450"/>
                </a:lnTo>
                <a:lnTo>
                  <a:pt x="2527300" y="31750"/>
                </a:lnTo>
                <a:lnTo>
                  <a:pt x="2578100" y="31750"/>
                </a:lnTo>
                <a:lnTo>
                  <a:pt x="2514600" y="0"/>
                </a:lnTo>
                <a:close/>
              </a:path>
              <a:path w="2590800" h="76200">
                <a:moveTo>
                  <a:pt x="2514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514600" y="44450"/>
                </a:lnTo>
                <a:lnTo>
                  <a:pt x="2514600" y="31750"/>
                </a:lnTo>
                <a:close/>
              </a:path>
              <a:path w="2590800" h="76200">
                <a:moveTo>
                  <a:pt x="2578100" y="31750"/>
                </a:moveTo>
                <a:lnTo>
                  <a:pt x="2527300" y="31750"/>
                </a:lnTo>
                <a:lnTo>
                  <a:pt x="2527300" y="44450"/>
                </a:lnTo>
                <a:lnTo>
                  <a:pt x="2578100" y="44450"/>
                </a:lnTo>
                <a:lnTo>
                  <a:pt x="2590800" y="38100"/>
                </a:lnTo>
                <a:lnTo>
                  <a:pt x="2578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947028" y="3456813"/>
            <a:ext cx="3333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696200" y="430530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838200" y="0"/>
                </a:moveTo>
                <a:lnTo>
                  <a:pt x="838200" y="76200"/>
                </a:lnTo>
                <a:lnTo>
                  <a:pt x="901700" y="44450"/>
                </a:lnTo>
                <a:lnTo>
                  <a:pt x="850900" y="44450"/>
                </a:lnTo>
                <a:lnTo>
                  <a:pt x="850900" y="31750"/>
                </a:lnTo>
                <a:lnTo>
                  <a:pt x="901700" y="31750"/>
                </a:lnTo>
                <a:lnTo>
                  <a:pt x="838200" y="0"/>
                </a:lnTo>
                <a:close/>
              </a:path>
              <a:path w="914400" h="76200">
                <a:moveTo>
                  <a:pt x="838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38200" y="44450"/>
                </a:lnTo>
                <a:lnTo>
                  <a:pt x="838200" y="31750"/>
                </a:lnTo>
                <a:close/>
              </a:path>
              <a:path w="914400" h="76200">
                <a:moveTo>
                  <a:pt x="901700" y="31750"/>
                </a:moveTo>
                <a:lnTo>
                  <a:pt x="850900" y="31750"/>
                </a:lnTo>
                <a:lnTo>
                  <a:pt x="850900" y="44450"/>
                </a:lnTo>
                <a:lnTo>
                  <a:pt x="901700" y="44450"/>
                </a:lnTo>
                <a:lnTo>
                  <a:pt x="914400" y="38100"/>
                </a:lnTo>
                <a:lnTo>
                  <a:pt x="901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928609" y="3990213"/>
            <a:ext cx="343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doC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81400" y="1447800"/>
            <a:ext cx="0" cy="4953000"/>
          </a:xfrm>
          <a:custGeom>
            <a:avLst/>
            <a:gdLst/>
            <a:ahLst/>
            <a:cxnLst/>
            <a:rect l="l" t="t" r="r" b="b"/>
            <a:pathLst>
              <a:path h="4953000">
                <a:moveTo>
                  <a:pt x="0" y="0"/>
                </a:moveTo>
                <a:lnTo>
                  <a:pt x="0" y="4953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35940" y="5284470"/>
            <a:ext cx="26117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Poor</a:t>
            </a:r>
            <a:r>
              <a:rPr sz="1800" b="1" spc="-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(low)</a:t>
            </a:r>
            <a:r>
              <a:rPr sz="18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Cohesion in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MonopolyGame</a:t>
            </a:r>
            <a:r>
              <a:rPr sz="18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object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45684" y="5360619"/>
            <a:ext cx="1348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6600"/>
                </a:solidFill>
                <a:latin typeface="Times New Roman"/>
                <a:cs typeface="Times New Roman"/>
              </a:rPr>
              <a:t>Better</a:t>
            </a:r>
            <a:r>
              <a:rPr sz="1800" b="1" spc="-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Design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3973" y="627684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5878" y="943102"/>
            <a:ext cx="22574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Polymorphism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844" y="1701520"/>
            <a:ext cx="7497445" cy="228155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2000" spc="-10" dirty="0">
                <a:latin typeface="Times New Roman"/>
                <a:cs typeface="Times New Roman"/>
              </a:rPr>
              <a:t>Problem:</a:t>
            </a:r>
            <a:endParaRPr sz="2000">
              <a:latin typeface="Times New Roman"/>
              <a:cs typeface="Times New Roman"/>
            </a:endParaRPr>
          </a:p>
          <a:p>
            <a:pPr marL="354965">
              <a:lnSpc>
                <a:spcPct val="100000"/>
              </a:lnSpc>
              <a:spcBef>
                <a:spcPts val="960"/>
              </a:spcBef>
            </a:pPr>
            <a:r>
              <a:rPr sz="2000" spc="-2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handle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alternatives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types?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-10" dirty="0"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  <a:p>
            <a:pPr marL="354965" marR="5080" algn="just">
              <a:lnSpc>
                <a:spcPts val="2160"/>
              </a:lnSpc>
              <a:spcBef>
                <a:spcPts val="1230"/>
              </a:spcBef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behaviours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object,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polymorphic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select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behaviour,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type.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9" rIns="0" bIns="0" rtlCol="0">
            <a:spAutoFit/>
          </a:bodyPr>
          <a:lstStyle/>
          <a:p>
            <a:pPr marL="1138555">
              <a:lnSpc>
                <a:spcPct val="100000"/>
              </a:lnSpc>
              <a:spcBef>
                <a:spcPts val="95"/>
              </a:spcBef>
            </a:pPr>
            <a:r>
              <a:rPr dirty="0"/>
              <a:t>Designing</a:t>
            </a:r>
            <a:r>
              <a:rPr spc="-114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dirty="0"/>
              <a:t>different</a:t>
            </a:r>
            <a:r>
              <a:rPr spc="-110" dirty="0"/>
              <a:t> </a:t>
            </a:r>
            <a:r>
              <a:rPr dirty="0"/>
              <a:t>Square</a:t>
            </a:r>
            <a:r>
              <a:rPr spc="-130" dirty="0"/>
              <a:t> </a:t>
            </a:r>
            <a:r>
              <a:rPr spc="-10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1828800"/>
            <a:ext cx="1524000" cy="838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35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Player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8237" y="3348037"/>
            <a:ext cx="7472680" cy="1457325"/>
            <a:chOff x="1138237" y="3348037"/>
            <a:chExt cx="7472680" cy="1457325"/>
          </a:xfrm>
        </p:grpSpPr>
        <p:sp>
          <p:nvSpPr>
            <p:cNvPr id="5" name="object 5"/>
            <p:cNvSpPr/>
            <p:nvPr/>
          </p:nvSpPr>
          <p:spPr>
            <a:xfrm>
              <a:off x="5638800" y="3352800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266700" y="0"/>
                  </a:lnTo>
                  <a:lnTo>
                    <a:pt x="533400" y="304800"/>
                  </a:lnTo>
                  <a:lnTo>
                    <a:pt x="0" y="3048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000" y="3657600"/>
              <a:ext cx="7467600" cy="1143000"/>
            </a:xfrm>
            <a:custGeom>
              <a:avLst/>
              <a:gdLst/>
              <a:ahLst/>
              <a:cxnLst/>
              <a:rect l="l" t="t" r="r" b="b"/>
              <a:pathLst>
                <a:path w="7467600" h="1143000">
                  <a:moveTo>
                    <a:pt x="4495800" y="0"/>
                  </a:moveTo>
                  <a:lnTo>
                    <a:pt x="0" y="0"/>
                  </a:lnTo>
                </a:path>
                <a:path w="7467600" h="1143000">
                  <a:moveTo>
                    <a:pt x="5029200" y="0"/>
                  </a:moveTo>
                  <a:lnTo>
                    <a:pt x="7467600" y="0"/>
                  </a:lnTo>
                </a:path>
                <a:path w="7467600" h="1143000">
                  <a:moveTo>
                    <a:pt x="0" y="0"/>
                  </a:moveTo>
                  <a:lnTo>
                    <a:pt x="0" y="609600"/>
                  </a:lnTo>
                </a:path>
                <a:path w="7467600" h="1143000">
                  <a:moveTo>
                    <a:pt x="1905000" y="0"/>
                  </a:moveTo>
                  <a:lnTo>
                    <a:pt x="1905000" y="609600"/>
                  </a:lnTo>
                </a:path>
                <a:path w="7467600" h="1143000">
                  <a:moveTo>
                    <a:pt x="3048000" y="1143000"/>
                  </a:moveTo>
                  <a:lnTo>
                    <a:pt x="4724400" y="1143000"/>
                  </a:lnTo>
                </a:path>
                <a:path w="7467600" h="1143000">
                  <a:moveTo>
                    <a:pt x="3886200" y="0"/>
                  </a:moveTo>
                  <a:lnTo>
                    <a:pt x="38862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131688"/>
              </p:ext>
            </p:extLst>
          </p:nvPr>
        </p:nvGraphicFramePr>
        <p:xfrm>
          <a:off x="4872037" y="1747837"/>
          <a:ext cx="1905000" cy="1600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Square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{abstract}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landedOn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{abstract}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228600" y="4267200"/>
            <a:ext cx="1752600" cy="1219200"/>
          </a:xfrm>
          <a:custGeom>
            <a:avLst/>
            <a:gdLst/>
            <a:ahLst/>
            <a:cxnLst/>
            <a:rect l="l" t="t" r="r" b="b"/>
            <a:pathLst>
              <a:path w="1752600" h="1219200">
                <a:moveTo>
                  <a:pt x="0" y="1219200"/>
                </a:moveTo>
                <a:lnTo>
                  <a:pt x="1752600" y="1219200"/>
                </a:lnTo>
                <a:lnTo>
                  <a:pt x="1752600" y="0"/>
                </a:lnTo>
                <a:lnTo>
                  <a:pt x="0" y="0"/>
                </a:lnTo>
                <a:lnTo>
                  <a:pt x="0" y="1219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8600" y="4267200"/>
            <a:ext cx="1752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PropertySquare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3837" y="4262437"/>
            <a:ext cx="3514725" cy="1304925"/>
            <a:chOff x="223837" y="4262437"/>
            <a:chExt cx="3514725" cy="1304925"/>
          </a:xfrm>
        </p:grpSpPr>
        <p:sp>
          <p:nvSpPr>
            <p:cNvPr id="11" name="object 11"/>
            <p:cNvSpPr/>
            <p:nvPr/>
          </p:nvSpPr>
          <p:spPr>
            <a:xfrm>
              <a:off x="228600" y="4724400"/>
              <a:ext cx="1752600" cy="0"/>
            </a:xfrm>
            <a:custGeom>
              <a:avLst/>
              <a:gdLst/>
              <a:ahLst/>
              <a:cxnLst/>
              <a:rect l="l" t="t" r="r" b="b"/>
              <a:pathLst>
                <a:path w="175260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86000" y="4267200"/>
              <a:ext cx="1447800" cy="1295400"/>
            </a:xfrm>
            <a:custGeom>
              <a:avLst/>
              <a:gdLst/>
              <a:ahLst/>
              <a:cxnLst/>
              <a:rect l="l" t="t" r="r" b="b"/>
              <a:pathLst>
                <a:path w="1447800" h="1295400">
                  <a:moveTo>
                    <a:pt x="0" y="1295400"/>
                  </a:moveTo>
                  <a:lnTo>
                    <a:pt x="1447800" y="129540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8600" y="5029200"/>
            <a:ext cx="17526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915"/>
              </a:spcBef>
            </a:pPr>
            <a:r>
              <a:rPr sz="1600" spc="-10" dirty="0">
                <a:latin typeface="Times New Roman"/>
                <a:cs typeface="Times New Roman"/>
              </a:rPr>
              <a:t>landedOn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86000" y="42672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GoSquare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281237" y="4262437"/>
            <a:ext cx="3590925" cy="1304925"/>
            <a:chOff x="2281237" y="4262437"/>
            <a:chExt cx="3590925" cy="1304925"/>
          </a:xfrm>
        </p:grpSpPr>
        <p:sp>
          <p:nvSpPr>
            <p:cNvPr id="16" name="object 16"/>
            <p:cNvSpPr/>
            <p:nvPr/>
          </p:nvSpPr>
          <p:spPr>
            <a:xfrm>
              <a:off x="2286000" y="4800600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91000" y="4267200"/>
              <a:ext cx="1676400" cy="1295400"/>
            </a:xfrm>
            <a:custGeom>
              <a:avLst/>
              <a:gdLst/>
              <a:ahLst/>
              <a:cxnLst/>
              <a:rect l="l" t="t" r="r" b="b"/>
              <a:pathLst>
                <a:path w="1676400" h="1295400">
                  <a:moveTo>
                    <a:pt x="0" y="1295400"/>
                  </a:moveTo>
                  <a:lnTo>
                    <a:pt x="1676400" y="1295400"/>
                  </a:lnTo>
                  <a:lnTo>
                    <a:pt x="1676400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286000" y="5105400"/>
            <a:ext cx="14478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315"/>
              </a:spcBef>
            </a:pPr>
            <a:r>
              <a:rPr sz="1600" spc="-10" dirty="0">
                <a:latin typeface="Times New Roman"/>
                <a:cs typeface="Times New Roman"/>
              </a:rPr>
              <a:t>landedOn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91000" y="4267200"/>
            <a:ext cx="16764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RegularSquare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91000" y="5105400"/>
            <a:ext cx="1676400" cy="4572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915"/>
              </a:spcBef>
            </a:pPr>
            <a:r>
              <a:rPr sz="1600" spc="-10" dirty="0">
                <a:latin typeface="Times New Roman"/>
                <a:cs typeface="Times New Roman"/>
              </a:rPr>
              <a:t>landedOn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43200" y="2171700"/>
            <a:ext cx="2133600" cy="76200"/>
          </a:xfrm>
          <a:custGeom>
            <a:avLst/>
            <a:gdLst/>
            <a:ahLst/>
            <a:cxnLst/>
            <a:rect l="l" t="t" r="r" b="b"/>
            <a:pathLst>
              <a:path w="2133600" h="76200">
                <a:moveTo>
                  <a:pt x="2057400" y="0"/>
                </a:moveTo>
                <a:lnTo>
                  <a:pt x="2057400" y="76200"/>
                </a:lnTo>
                <a:lnTo>
                  <a:pt x="2120900" y="44450"/>
                </a:lnTo>
                <a:lnTo>
                  <a:pt x="2070100" y="44450"/>
                </a:lnTo>
                <a:lnTo>
                  <a:pt x="2070100" y="31750"/>
                </a:lnTo>
                <a:lnTo>
                  <a:pt x="2120900" y="31750"/>
                </a:lnTo>
                <a:lnTo>
                  <a:pt x="2057400" y="0"/>
                </a:lnTo>
                <a:close/>
              </a:path>
              <a:path w="2133600" h="76200">
                <a:moveTo>
                  <a:pt x="2057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057400" y="44450"/>
                </a:lnTo>
                <a:lnTo>
                  <a:pt x="2057400" y="31750"/>
                </a:lnTo>
                <a:close/>
              </a:path>
              <a:path w="2133600" h="76200">
                <a:moveTo>
                  <a:pt x="2120900" y="31750"/>
                </a:moveTo>
                <a:lnTo>
                  <a:pt x="2070100" y="31750"/>
                </a:lnTo>
                <a:lnTo>
                  <a:pt x="2070100" y="44450"/>
                </a:lnTo>
                <a:lnTo>
                  <a:pt x="2120900" y="44450"/>
                </a:lnTo>
                <a:lnTo>
                  <a:pt x="2133600" y="38100"/>
                </a:lnTo>
                <a:lnTo>
                  <a:pt x="2120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203575" y="1932558"/>
            <a:ext cx="6318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location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243637" y="3652837"/>
          <a:ext cx="2380615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IncomeTaxSquare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landedOn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494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Pure</a:t>
            </a:r>
            <a:r>
              <a:rPr sz="3200" spc="-65" dirty="0"/>
              <a:t> </a:t>
            </a:r>
            <a:r>
              <a:rPr sz="3200" spc="-10" dirty="0"/>
              <a:t>Fabrication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12140" y="1585511"/>
            <a:ext cx="863600" cy="7156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800" spc="-10" dirty="0">
                <a:latin typeface="Times New Roman"/>
                <a:cs typeface="Times New Roman"/>
              </a:rPr>
              <a:t>Name: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00" spc="-10" dirty="0">
                <a:latin typeface="Times New Roman"/>
                <a:cs typeface="Times New Roman"/>
              </a:rPr>
              <a:t>Problem: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/>
              <a:t>Pure</a:t>
            </a:r>
            <a:r>
              <a:rPr spc="-40" dirty="0"/>
              <a:t> </a:t>
            </a:r>
            <a:r>
              <a:rPr spc="-10" dirty="0"/>
              <a:t>Fabrication</a:t>
            </a:r>
          </a:p>
          <a:p>
            <a:pPr marL="12700" marR="5080">
              <a:lnSpc>
                <a:spcPct val="125000"/>
              </a:lnSpc>
              <a:spcBef>
                <a:spcPts val="15"/>
              </a:spcBef>
            </a:pPr>
            <a:r>
              <a:rPr b="0" dirty="0">
                <a:latin typeface="Times New Roman"/>
                <a:cs typeface="Times New Roman"/>
              </a:rPr>
              <a:t>What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object should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have responsibility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when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you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do </a:t>
            </a:r>
            <a:r>
              <a:rPr b="0" spc="-25" dirty="0">
                <a:latin typeface="Times New Roman"/>
                <a:cs typeface="Times New Roman"/>
              </a:rPr>
              <a:t>not </a:t>
            </a:r>
            <a:r>
              <a:rPr b="0" dirty="0">
                <a:latin typeface="Times New Roman"/>
                <a:cs typeface="Times New Roman"/>
              </a:rPr>
              <a:t>want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violate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High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Cohesion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 Low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Coupling,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or </a:t>
            </a:r>
            <a:r>
              <a:rPr b="0" dirty="0">
                <a:latin typeface="Times New Roman"/>
                <a:cs typeface="Times New Roman"/>
              </a:rPr>
              <a:t>other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goals,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but solutions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offered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by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Expert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(for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example) </a:t>
            </a:r>
            <a:r>
              <a:rPr b="0" dirty="0">
                <a:latin typeface="Times New Roman"/>
                <a:cs typeface="Times New Roman"/>
              </a:rPr>
              <a:t>are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not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appropriate?</a:t>
            </a:r>
          </a:p>
          <a:p>
            <a:pPr marL="12700" marR="272415">
              <a:lnSpc>
                <a:spcPct val="125000"/>
              </a:lnSpc>
              <a:spcBef>
                <a:spcPts val="5"/>
              </a:spcBef>
            </a:pPr>
            <a:r>
              <a:rPr b="0" dirty="0">
                <a:latin typeface="Times New Roman"/>
                <a:cs typeface="Times New Roman"/>
              </a:rPr>
              <a:t>Assign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highly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cohesive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set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responsibilities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an </a:t>
            </a:r>
            <a:r>
              <a:rPr b="0" dirty="0">
                <a:latin typeface="Times New Roman"/>
                <a:cs typeface="Times New Roman"/>
              </a:rPr>
              <a:t>artificial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convenience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that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does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not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represent </a:t>
            </a:r>
            <a:r>
              <a:rPr b="0" spc="-50" dirty="0">
                <a:latin typeface="Times New Roman"/>
                <a:cs typeface="Times New Roman"/>
              </a:rPr>
              <a:t>a </a:t>
            </a:r>
            <a:r>
              <a:rPr b="0" dirty="0">
                <a:latin typeface="Times New Roman"/>
                <a:cs typeface="Times New Roman"/>
              </a:rPr>
              <a:t>domain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concept.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2140" y="3372992"/>
            <a:ext cx="86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Solution: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419" y="4960061"/>
            <a:ext cx="790194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Example:</a:t>
            </a:r>
            <a:r>
              <a:rPr sz="1800" b="1" spc="4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Rolling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dice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Monopoly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game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–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Dice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used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many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games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putting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rolling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summing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responsibilities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Player</a:t>
            </a:r>
            <a:r>
              <a:rPr sz="1800" b="1" spc="-6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makes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it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impossible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generalize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this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service.</a:t>
            </a:r>
            <a:r>
              <a:rPr sz="1800" b="1" spc="3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Also,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is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not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now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possible 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simply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ask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for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current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dice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total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without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rolling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again.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3646" y="478281"/>
            <a:ext cx="2615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Pure</a:t>
            </a:r>
            <a:r>
              <a:rPr spc="-120" dirty="0"/>
              <a:t> </a:t>
            </a:r>
            <a:r>
              <a:rPr spc="-10" dirty="0"/>
              <a:t>Fabrication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168653"/>
            <a:ext cx="8227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Use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Cup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hold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dice,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roll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them,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and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know</a:t>
            </a:r>
            <a:r>
              <a:rPr sz="1800" b="1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their</a:t>
            </a:r>
            <a:r>
              <a:rPr sz="18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total.</a:t>
            </a:r>
            <a:r>
              <a:rPr sz="1800" b="1" spc="44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It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can</a:t>
            </a:r>
            <a:r>
              <a:rPr sz="18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be</a:t>
            </a:r>
            <a:r>
              <a:rPr sz="18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reused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in</a:t>
            </a:r>
            <a:r>
              <a:rPr sz="18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many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different</a:t>
            </a:r>
            <a:r>
              <a:rPr sz="18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applications</a:t>
            </a:r>
            <a:r>
              <a:rPr sz="18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where</a:t>
            </a:r>
            <a:r>
              <a:rPr sz="180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dice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3333CC"/>
                </a:solidFill>
                <a:latin typeface="Times New Roman"/>
                <a:cs typeface="Times New Roman"/>
              </a:rPr>
              <a:t>are</a:t>
            </a:r>
            <a:r>
              <a:rPr sz="1800" b="1" spc="-3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involved.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2971800"/>
            <a:ext cx="15240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557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910"/>
              </a:spcBef>
            </a:pPr>
            <a:r>
              <a:rPr sz="1600" b="1" spc="-10" dirty="0">
                <a:latin typeface="Times New Roman"/>
                <a:cs typeface="Times New Roman"/>
              </a:rPr>
              <a:t>p:Player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0200" y="35052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95600" y="2971800"/>
            <a:ext cx="11430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905"/>
              </a:spcBef>
            </a:pPr>
            <a:r>
              <a:rPr sz="1800" b="1" spc="-20" dirty="0">
                <a:latin typeface="Times New Roman"/>
                <a:cs typeface="Times New Roman"/>
              </a:rPr>
              <a:t>:Cup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00200" y="3505200"/>
            <a:ext cx="1910080" cy="2743200"/>
            <a:chOff x="1600200" y="3505200"/>
            <a:chExt cx="1910080" cy="2743200"/>
          </a:xfrm>
        </p:grpSpPr>
        <p:sp>
          <p:nvSpPr>
            <p:cNvPr id="8" name="object 8"/>
            <p:cNvSpPr/>
            <p:nvPr/>
          </p:nvSpPr>
          <p:spPr>
            <a:xfrm>
              <a:off x="3505200" y="3505200"/>
              <a:ext cx="0" cy="2743200"/>
            </a:xfrm>
            <a:custGeom>
              <a:avLst/>
              <a:gdLst/>
              <a:ahLst/>
              <a:cxnLst/>
              <a:rect l="l" t="t" r="r" b="b"/>
              <a:pathLst>
                <a:path h="2743200">
                  <a:moveTo>
                    <a:pt x="0" y="0"/>
                  </a:moveTo>
                  <a:lnTo>
                    <a:pt x="0" y="2743200"/>
                  </a:lnTo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0200" y="4457699"/>
              <a:ext cx="1905000" cy="609600"/>
            </a:xfrm>
            <a:custGeom>
              <a:avLst/>
              <a:gdLst/>
              <a:ahLst/>
              <a:cxnLst/>
              <a:rect l="l" t="t" r="r" b="b"/>
              <a:pathLst>
                <a:path w="1905000" h="609600">
                  <a:moveTo>
                    <a:pt x="1905000" y="571500"/>
                  </a:moveTo>
                  <a:lnTo>
                    <a:pt x="1892300" y="565150"/>
                  </a:lnTo>
                  <a:lnTo>
                    <a:pt x="1828800" y="533400"/>
                  </a:lnTo>
                  <a:lnTo>
                    <a:pt x="1828800" y="565150"/>
                  </a:lnTo>
                  <a:lnTo>
                    <a:pt x="0" y="565150"/>
                  </a:lnTo>
                  <a:lnTo>
                    <a:pt x="0" y="577850"/>
                  </a:lnTo>
                  <a:lnTo>
                    <a:pt x="1828800" y="577850"/>
                  </a:lnTo>
                  <a:lnTo>
                    <a:pt x="1828800" y="609600"/>
                  </a:lnTo>
                  <a:lnTo>
                    <a:pt x="1892300" y="577850"/>
                  </a:lnTo>
                  <a:lnTo>
                    <a:pt x="1905000" y="571500"/>
                  </a:lnTo>
                  <a:close/>
                </a:path>
                <a:path w="1905000" h="609600">
                  <a:moveTo>
                    <a:pt x="1905000" y="38100"/>
                  </a:moveTo>
                  <a:lnTo>
                    <a:pt x="1892300" y="31750"/>
                  </a:lnTo>
                  <a:lnTo>
                    <a:pt x="1828800" y="0"/>
                  </a:lnTo>
                  <a:lnTo>
                    <a:pt x="18288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1828800" y="44450"/>
                  </a:lnTo>
                  <a:lnTo>
                    <a:pt x="1828800" y="76200"/>
                  </a:lnTo>
                  <a:lnTo>
                    <a:pt x="1892300" y="44450"/>
                  </a:lnTo>
                  <a:lnTo>
                    <a:pt x="19050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76800" y="2971800"/>
            <a:ext cx="12954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:Board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0" y="3505200"/>
            <a:ext cx="0" cy="2743200"/>
          </a:xfrm>
          <a:custGeom>
            <a:avLst/>
            <a:gdLst/>
            <a:ahLst/>
            <a:cxnLst/>
            <a:rect l="l" t="t" r="r" b="b"/>
            <a:pathLst>
              <a:path h="2743200">
                <a:moveTo>
                  <a:pt x="0" y="0"/>
                </a:moveTo>
                <a:lnTo>
                  <a:pt x="0" y="27432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29400" y="2971800"/>
            <a:ext cx="1447800" cy="5334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905"/>
              </a:spcBef>
            </a:pPr>
            <a:r>
              <a:rPr sz="1800" b="1" spc="-10" dirty="0">
                <a:latin typeface="Times New Roman"/>
                <a:cs typeface="Times New Roman"/>
              </a:rPr>
              <a:t>loc:Square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91400" y="3505200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ln w="952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4800" y="4000500"/>
            <a:ext cx="1295400" cy="76200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19200" y="0"/>
                </a:moveTo>
                <a:lnTo>
                  <a:pt x="1219200" y="76200"/>
                </a:lnTo>
                <a:lnTo>
                  <a:pt x="1282700" y="44450"/>
                </a:lnTo>
                <a:lnTo>
                  <a:pt x="1231900" y="44450"/>
                </a:lnTo>
                <a:lnTo>
                  <a:pt x="1231900" y="31750"/>
                </a:lnTo>
                <a:lnTo>
                  <a:pt x="1282700" y="31750"/>
                </a:lnTo>
                <a:lnTo>
                  <a:pt x="1219200" y="0"/>
                </a:lnTo>
                <a:close/>
              </a:path>
              <a:path w="1295400" h="76200">
                <a:moveTo>
                  <a:pt x="1219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19200" y="44450"/>
                </a:lnTo>
                <a:lnTo>
                  <a:pt x="1219200" y="31750"/>
                </a:lnTo>
                <a:close/>
              </a:path>
              <a:path w="1295400" h="76200">
                <a:moveTo>
                  <a:pt x="1282700" y="31750"/>
                </a:moveTo>
                <a:lnTo>
                  <a:pt x="1231900" y="31750"/>
                </a:lnTo>
                <a:lnTo>
                  <a:pt x="1231900" y="44450"/>
                </a:lnTo>
                <a:lnTo>
                  <a:pt x="1282700" y="44450"/>
                </a:lnTo>
                <a:lnTo>
                  <a:pt x="1295400" y="38100"/>
                </a:lnTo>
                <a:lnTo>
                  <a:pt x="1282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0200" y="5524500"/>
            <a:ext cx="3962400" cy="76200"/>
          </a:xfrm>
          <a:custGeom>
            <a:avLst/>
            <a:gdLst/>
            <a:ahLst/>
            <a:cxnLst/>
            <a:rect l="l" t="t" r="r" b="b"/>
            <a:pathLst>
              <a:path w="3962400" h="76200">
                <a:moveTo>
                  <a:pt x="3886200" y="0"/>
                </a:moveTo>
                <a:lnTo>
                  <a:pt x="3886200" y="76200"/>
                </a:lnTo>
                <a:lnTo>
                  <a:pt x="3949700" y="44450"/>
                </a:lnTo>
                <a:lnTo>
                  <a:pt x="3898900" y="44450"/>
                </a:lnTo>
                <a:lnTo>
                  <a:pt x="3898900" y="31750"/>
                </a:lnTo>
                <a:lnTo>
                  <a:pt x="3949700" y="31750"/>
                </a:lnTo>
                <a:lnTo>
                  <a:pt x="3886200" y="0"/>
                </a:lnTo>
                <a:close/>
              </a:path>
              <a:path w="3962400" h="76200">
                <a:moveTo>
                  <a:pt x="3886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886200" y="44450"/>
                </a:lnTo>
                <a:lnTo>
                  <a:pt x="3886200" y="31750"/>
                </a:lnTo>
                <a:close/>
              </a:path>
              <a:path w="3962400" h="76200">
                <a:moveTo>
                  <a:pt x="3949700" y="31750"/>
                </a:moveTo>
                <a:lnTo>
                  <a:pt x="3898900" y="31750"/>
                </a:lnTo>
                <a:lnTo>
                  <a:pt x="3898900" y="44450"/>
                </a:lnTo>
                <a:lnTo>
                  <a:pt x="3949700" y="44450"/>
                </a:lnTo>
                <a:lnTo>
                  <a:pt x="3962400" y="38100"/>
                </a:lnTo>
                <a:lnTo>
                  <a:pt x="3949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0200" y="5981700"/>
            <a:ext cx="5791200" cy="76200"/>
          </a:xfrm>
          <a:custGeom>
            <a:avLst/>
            <a:gdLst/>
            <a:ahLst/>
            <a:cxnLst/>
            <a:rect l="l" t="t" r="r" b="b"/>
            <a:pathLst>
              <a:path w="5791200" h="76200">
                <a:moveTo>
                  <a:pt x="5715000" y="0"/>
                </a:moveTo>
                <a:lnTo>
                  <a:pt x="5715000" y="76200"/>
                </a:lnTo>
                <a:lnTo>
                  <a:pt x="5778500" y="44450"/>
                </a:lnTo>
                <a:lnTo>
                  <a:pt x="5727700" y="44450"/>
                </a:lnTo>
                <a:lnTo>
                  <a:pt x="5727700" y="31750"/>
                </a:lnTo>
                <a:lnTo>
                  <a:pt x="5778500" y="31750"/>
                </a:lnTo>
                <a:lnTo>
                  <a:pt x="5715000" y="0"/>
                </a:lnTo>
                <a:close/>
              </a:path>
              <a:path w="5791200" h="76200">
                <a:moveTo>
                  <a:pt x="57150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715000" y="44450"/>
                </a:lnTo>
                <a:lnTo>
                  <a:pt x="5715000" y="31750"/>
                </a:lnTo>
                <a:close/>
              </a:path>
              <a:path w="5791200" h="76200">
                <a:moveTo>
                  <a:pt x="5778500" y="31750"/>
                </a:moveTo>
                <a:lnTo>
                  <a:pt x="5727700" y="31750"/>
                </a:lnTo>
                <a:lnTo>
                  <a:pt x="5727700" y="44450"/>
                </a:lnTo>
                <a:lnTo>
                  <a:pt x="5778500" y="44450"/>
                </a:lnTo>
                <a:lnTo>
                  <a:pt x="5791200" y="38100"/>
                </a:lnTo>
                <a:lnTo>
                  <a:pt x="57785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07340" y="3685413"/>
            <a:ext cx="4407535" cy="2250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takeTurn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R="414020" algn="ctr">
              <a:lnSpc>
                <a:spcPct val="100000"/>
              </a:lnSpc>
            </a:pPr>
            <a:r>
              <a:rPr sz="16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roll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/>
              <a:cs typeface="Times New Roman"/>
            </a:endParaRPr>
          </a:p>
          <a:p>
            <a:pPr marL="1536700"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fvTot</a:t>
            </a:r>
            <a:r>
              <a:rPr sz="16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6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getTotal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/>
              <a:cs typeface="Times New Roman"/>
            </a:endParaRPr>
          </a:p>
          <a:p>
            <a:pPr marL="1612900">
              <a:lnSpc>
                <a:spcPct val="100000"/>
              </a:lnSpc>
            </a:pPr>
            <a:r>
              <a:rPr sz="1600" b="1" dirty="0">
                <a:solidFill>
                  <a:srgbClr val="3333CC"/>
                </a:solidFill>
                <a:latin typeface="Times New Roman"/>
                <a:cs typeface="Times New Roman"/>
              </a:rPr>
              <a:t>loc</a:t>
            </a:r>
            <a:r>
              <a:rPr sz="1600" b="1" spc="-4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1600" b="1" spc="-5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3333CC"/>
                </a:solidFill>
                <a:latin typeface="Times New Roman"/>
                <a:cs typeface="Times New Roman"/>
              </a:rPr>
              <a:t>getSquare(loc,</a:t>
            </a:r>
            <a:r>
              <a:rPr sz="1600" b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fvTot)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landedOn(p)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798"/>
            <a:ext cx="9128579" cy="64263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3973" y="6276847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519" y="1576240"/>
            <a:ext cx="7615555" cy="254444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800" b="1" spc="-10" dirty="0">
                <a:latin typeface="Times New Roman"/>
                <a:cs typeface="Times New Roman"/>
              </a:rPr>
              <a:t>Benefits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97600"/>
              </a:lnSpc>
              <a:spcBef>
                <a:spcPts val="83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cohesion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supported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responsibilities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are </a:t>
            </a:r>
            <a:r>
              <a:rPr sz="2400" dirty="0">
                <a:latin typeface="Times New Roman"/>
                <a:cs typeface="Times New Roman"/>
              </a:rPr>
              <a:t>factored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only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focuses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specific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tasks.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740"/>
              </a:lnSpc>
              <a:spcBef>
                <a:spcPts val="93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Reuse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potential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may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because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presence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grained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Fabrication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classes.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989" rIns="0" bIns="0" rtlCol="0">
            <a:spAutoFit/>
          </a:bodyPr>
          <a:lstStyle/>
          <a:p>
            <a:pPr marL="2880360">
              <a:lnSpc>
                <a:spcPct val="100000"/>
              </a:lnSpc>
              <a:spcBef>
                <a:spcPts val="95"/>
              </a:spcBef>
            </a:pPr>
            <a:r>
              <a:rPr dirty="0"/>
              <a:t>Pure</a:t>
            </a:r>
            <a:r>
              <a:rPr spc="-120" dirty="0"/>
              <a:t> </a:t>
            </a:r>
            <a:r>
              <a:rPr spc="-10" dirty="0"/>
              <a:t>Fabrication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309" rIns="0" bIns="0" rtlCol="0">
            <a:spAutoFit/>
          </a:bodyPr>
          <a:lstStyle/>
          <a:p>
            <a:pPr marL="181356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70" dirty="0"/>
              <a:t> </a:t>
            </a:r>
            <a:r>
              <a:rPr dirty="0"/>
              <a:t>We</a:t>
            </a:r>
            <a:r>
              <a:rPr spc="-80" dirty="0"/>
              <a:t> </a:t>
            </a:r>
            <a:r>
              <a:rPr dirty="0"/>
              <a:t>Learned;</a:t>
            </a:r>
            <a:r>
              <a:rPr spc="-55" dirty="0"/>
              <a:t> </a:t>
            </a:r>
            <a:r>
              <a:rPr spc="-10" dirty="0"/>
              <a:t>Reflection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2080386"/>
            <a:ext cx="7414895" cy="119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Skillful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assignment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responsibilities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critical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10" dirty="0">
                <a:latin typeface="Times New Roman"/>
                <a:cs typeface="Times New Roman"/>
              </a:rPr>
              <a:t>object- </a:t>
            </a:r>
            <a:r>
              <a:rPr sz="2400" dirty="0">
                <a:latin typeface="Times New Roman"/>
                <a:cs typeface="Times New Roman"/>
              </a:rPr>
              <a:t>oriented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design.</a:t>
            </a:r>
            <a:endParaRPr sz="24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GRASP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patterns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codify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fundamental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principles.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1214</Words>
  <Application>Microsoft Office PowerPoint</Application>
  <PresentationFormat>On-screen Show (4:3)</PresentationFormat>
  <Paragraphs>267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Arial Narrow</vt:lpstr>
      <vt:lpstr>Times New Roman</vt:lpstr>
      <vt:lpstr>Wingdings</vt:lpstr>
      <vt:lpstr>Office Theme</vt:lpstr>
      <vt:lpstr>Software Design and Analysis</vt:lpstr>
      <vt:lpstr>Lecture Outline</vt:lpstr>
      <vt:lpstr>                             GRASP Patterns</vt:lpstr>
      <vt:lpstr>Responsibility-Driven Design</vt:lpstr>
      <vt:lpstr>OOD Fundamentals</vt:lpstr>
      <vt:lpstr>Example of RDD – Monopoly Game</vt:lpstr>
      <vt:lpstr>The Creator</vt:lpstr>
      <vt:lpstr>Implementation of the Creator Pattern in Monoply</vt:lpstr>
      <vt:lpstr>Information Expert</vt:lpstr>
      <vt:lpstr>Make Board Information Expert</vt:lpstr>
      <vt:lpstr>The most general purpose responsibility assignment principle?</vt:lpstr>
      <vt:lpstr>Low Coupling</vt:lpstr>
      <vt:lpstr>create</vt:lpstr>
      <vt:lpstr>High Cohesion</vt:lpstr>
      <vt:lpstr>Contrasting Levels of Cohesion</vt:lpstr>
      <vt:lpstr>Polymorphism</vt:lpstr>
      <vt:lpstr>Designing for different Square actions</vt:lpstr>
      <vt:lpstr>Pure Fabrication</vt:lpstr>
      <vt:lpstr>Pure Fabrication</vt:lpstr>
      <vt:lpstr>PowerPoint Presentation</vt:lpstr>
      <vt:lpstr>Pure Fabrication</vt:lpstr>
      <vt:lpstr>What We Learned;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and Analysis</dc:title>
  <dc:creator>Muhammad Mr.. Bilal</dc:creator>
  <cp:lastModifiedBy>Ms.Tehreem Aslam</cp:lastModifiedBy>
  <cp:revision>4</cp:revision>
  <dcterms:created xsi:type="dcterms:W3CDTF">2024-11-21T10:59:59Z</dcterms:created>
  <dcterms:modified xsi:type="dcterms:W3CDTF">2024-12-02T07:24:38Z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2024-11-21T00:00:00Z</vt:filetime>
  </property>
  <property fmtid="{D5CDD505-2E9C-101B-9397-08002B2CF9AE}" pid="5" name="Producer">
    <vt:lpwstr>Microsoft® PowerPoint® for Microsoft 365</vt:lpwstr>
  </property>
</Properties>
</file>